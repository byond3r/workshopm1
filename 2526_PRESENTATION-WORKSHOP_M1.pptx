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56" r:id="rId5"/>
    <p:sldId id="263" r:id="rId6"/>
    <p:sldId id="271" r:id="rId7"/>
    <p:sldId id="274" r:id="rId8"/>
    <p:sldId id="273" r:id="rId9"/>
    <p:sldId id="267" r:id="rId10"/>
    <p:sldId id="268" r:id="rId11"/>
    <p:sldId id="270" r:id="rId12"/>
    <p:sldId id="262"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erqjARNi/tZbZcNN/7EieA==" hashData="9wAI/13LV0cqzaTDCpEicUsXcrI0S1dOKujIdt6sR8PXJGmrKoDU/zhMItKNqqor4J2Q64fyaWe4rkWN3uwQQw=="/>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1E48"/>
    <a:srgbClr val="A1A6D4"/>
    <a:srgbClr val="E4E6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535" autoAdjust="0"/>
  </p:normalViewPr>
  <p:slideViewPr>
    <p:cSldViewPr snapToGrid="0">
      <p:cViewPr varScale="1">
        <p:scale>
          <a:sx n="92" d="100"/>
          <a:sy n="92" d="100"/>
        </p:scale>
        <p:origin x="1314" y="90"/>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B8AD0C8-059B-AEA8-02B5-03B2DA414A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8F2DDF08-5948-5A05-DFC4-70A47B1200B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AC4C70-9B7A-4B3F-9B62-61FBD47E5BD0}" type="datetimeFigureOut">
              <a:rPr lang="fr-FR" smtClean="0"/>
              <a:t>12/08/2026</a:t>
            </a:fld>
            <a:endParaRPr lang="fr-FR"/>
          </a:p>
        </p:txBody>
      </p:sp>
      <p:sp>
        <p:nvSpPr>
          <p:cNvPr id="4" name="Espace réservé du pied de page 3">
            <a:extLst>
              <a:ext uri="{FF2B5EF4-FFF2-40B4-BE49-F238E27FC236}">
                <a16:creationId xmlns:a16="http://schemas.microsoft.com/office/drawing/2014/main" id="{F6CEA825-E1FA-7B97-1796-4BF28A959C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A837691-1B5F-34BD-601C-D360EE959B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2F4700-86E5-48CF-AACB-A94BF9A4CF7F}" type="slidenum">
              <a:rPr lang="fr-FR" smtClean="0"/>
              <a:t>‹N°›</a:t>
            </a:fld>
            <a:endParaRPr lang="fr-FR"/>
          </a:p>
        </p:txBody>
      </p:sp>
    </p:spTree>
    <p:extLst>
      <p:ext uri="{BB962C8B-B14F-4D97-AF65-F5344CB8AC3E}">
        <p14:creationId xmlns:p14="http://schemas.microsoft.com/office/powerpoint/2010/main" val="17996058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025CC-95B5-47C0-BA18-1C8B2CE9C773}" type="datetimeFigureOut">
              <a:rPr lang="fr-FR" smtClean="0"/>
              <a:t>12/08/2026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D58F5-C3B3-45EB-82E3-9E3FE22C63C1}" type="slidenum">
              <a:rPr lang="fr-FR" smtClean="0"/>
              <a:t>‹N°›</a:t>
            </a:fld>
            <a:endParaRPr lang="fr-FR"/>
          </a:p>
        </p:txBody>
      </p:sp>
    </p:spTree>
    <p:extLst>
      <p:ext uri="{BB962C8B-B14F-4D97-AF65-F5344CB8AC3E}">
        <p14:creationId xmlns:p14="http://schemas.microsoft.com/office/powerpoint/2010/main" val="90056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Zone d'habillage uniquement. Renseignez le nom du workshop et la promo. Aucun contenu pédagogique à ajouter ici — l'accroche vient juste après.</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1</a:t>
            </a:fld>
            <a:endParaRPr lang="fr-FR"/>
          </a:p>
        </p:txBody>
      </p:sp>
    </p:spTree>
    <p:extLst>
      <p:ext uri="{BB962C8B-B14F-4D97-AF65-F5344CB8AC3E}">
        <p14:creationId xmlns:p14="http://schemas.microsoft.com/office/powerpoint/2010/main" val="2274734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Votre phrase doit créer une tension ou une question, jamais un résumé du sujet. Évitez le jargon technique à ce stade — l'objectif est de capter l'attention, pas d'expliquer. Une seule phrase suffit ; si vous en avez besoin de plusieurs, c'est probablement encore un résumé déguisé. Associez une illustration qui installe l'ambiance sans dévoiler le défi technique (gardez la surprise pour la slide suivante)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2</a:t>
            </a:fld>
            <a:endParaRPr lang="fr-FR"/>
          </a:p>
        </p:txBody>
      </p:sp>
    </p:spTree>
    <p:extLst>
      <p:ext uri="{BB962C8B-B14F-4D97-AF65-F5344CB8AC3E}">
        <p14:creationId xmlns:p14="http://schemas.microsoft.com/office/powerpoint/2010/main" val="2686476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Partie A (contexte) : 2-3 phrases maximum. Plantez le décor/l'univers du workshop sans reformuler le sujet — juste de quoi donner l'ambiance. Partie B (le défi) : un schéma unique qui montre la contrainte centrale du workshop. Pas de texte long ici : si le schéma a besoin d'être expliqué en détail, il n'est pas assez clair. Le détail complet reste dans le sujet distribué.</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3</a:t>
            </a:fld>
            <a:endParaRPr lang="fr-FR"/>
          </a:p>
        </p:txBody>
      </p:sp>
    </p:spTree>
    <p:extLst>
      <p:ext uri="{BB962C8B-B14F-4D97-AF65-F5344CB8AC3E}">
        <p14:creationId xmlns:p14="http://schemas.microsoft.com/office/powerpoint/2010/main" val="319423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Renseignez 2-3 jalons clés par jour maximum — pas le détail heure par heure, juste de quoi se projeter dans la semaine. L'encart en bas de slide reprend les rappels administratifs de votre campus (émargement, propreté des locaux, retards) : gardez un ton informatif et léger, pas un ton de mise en garde — on est encore dans l'énergie de lancement.</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5</a:t>
            </a:fld>
            <a:endParaRPr lang="fr-FR"/>
          </a:p>
        </p:txBody>
      </p:sp>
    </p:spTree>
    <p:extLst>
      <p:ext uri="{BB962C8B-B14F-4D97-AF65-F5344CB8AC3E}">
        <p14:creationId xmlns:p14="http://schemas.microsoft.com/office/powerpoint/2010/main" val="1428099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Une checklist visuelle des types de livrables attendus (rapport, vidéo, code, etc.) — pas les noms de fichiers exacts ni les formats précis, qui restent dans le sujet. Utilisez des icônes plutôt que du texte quand c'est possible.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6</a:t>
            </a:fld>
            <a:endParaRPr lang="fr-FR"/>
          </a:p>
        </p:txBody>
      </p:sp>
    </p:spTree>
    <p:extLst>
      <p:ext uri="{BB962C8B-B14F-4D97-AF65-F5344CB8AC3E}">
        <p14:creationId xmlns:p14="http://schemas.microsoft.com/office/powerpoint/2010/main" val="881060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Montrez les deux grilles (locale et nationale) rapidement, comme un aperçu — "voici à quoi ça ressemble" — sans détailler chaque critère ou chaque point à l'oral. Le détail complet est dans le sujet ; l'objectif ici est la transparence, pas un cours de notation. Comptez 30 secondes maximum sur cette slide.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7</a:t>
            </a:fld>
            <a:endParaRPr lang="fr-FR"/>
          </a:p>
        </p:txBody>
      </p:sp>
    </p:spTree>
    <p:extLst>
      <p:ext uri="{BB962C8B-B14F-4D97-AF65-F5344CB8AC3E}">
        <p14:creationId xmlns:p14="http://schemas.microsoft.com/office/powerpoint/2010/main" val="692953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Message de clôture motivant uniquement. N'ajoutez aucune information logistique ou administrative ici (elle est déjà dans le planning) — cette slide doit rester 100% énergie positive avant de lâcher les équipes en autonomie.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8</a:t>
            </a:fld>
            <a:endParaRPr lang="fr-FR"/>
          </a:p>
        </p:txBody>
      </p:sp>
    </p:spTree>
    <p:extLst>
      <p:ext uri="{BB962C8B-B14F-4D97-AF65-F5344CB8AC3E}">
        <p14:creationId xmlns:p14="http://schemas.microsoft.com/office/powerpoint/2010/main" val="2687645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slide est masquée et ne doit jamais être montrée aux étudiants. Elle sert uniquement de rappel pour vous, coach, si vous devez ajouter du contenu hors gabarit.</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9</a:t>
            </a:fld>
            <a:endParaRPr lang="fr-FR"/>
          </a:p>
        </p:txBody>
      </p:sp>
    </p:spTree>
    <p:extLst>
      <p:ext uri="{BB962C8B-B14F-4D97-AF65-F5344CB8AC3E}">
        <p14:creationId xmlns:p14="http://schemas.microsoft.com/office/powerpoint/2010/main" val="141258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F1FA278C-CBFF-6B11-2A4D-023B57C518D5}"/>
              </a:ext>
            </a:extLst>
          </p:cNvPr>
          <p:cNvPicPr>
            <a:picLocks noGrp="1" noRot="1" noChangeAspect="1" noMove="1" noResize="1" noEditPoints="1" noAdjustHandles="1" noChangeArrowheads="1" noChangeShapeType="1" noCrop="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25400" y="-126999"/>
            <a:ext cx="12306300" cy="7061200"/>
          </a:xfrm>
          <a:prstGeom prst="rect">
            <a:avLst/>
          </a:prstGeom>
          <a:solidFill>
            <a:srgbClr val="261E48"/>
          </a:solidFill>
        </p:spPr>
      </p:pic>
      <p:sp>
        <p:nvSpPr>
          <p:cNvPr id="2" name="Titre 1">
            <a:extLst>
              <a:ext uri="{FF2B5EF4-FFF2-40B4-BE49-F238E27FC236}">
                <a16:creationId xmlns:a16="http://schemas.microsoft.com/office/drawing/2014/main" id="{A7541FE8-FE2B-24CC-F8E5-7AFF67296B3D}"/>
              </a:ext>
            </a:extLst>
          </p:cNvPr>
          <p:cNvSpPr>
            <a:spLocks noGrp="1" noRot="1" noMove="1" noResize="1" noEditPoints="1" noAdjustHandles="1" noChangeArrowheads="1" noChangeShapeType="1"/>
          </p:cNvSpPr>
          <p:nvPr>
            <p:ph type="ctrTitle"/>
          </p:nvPr>
        </p:nvSpPr>
        <p:spPr>
          <a:xfrm>
            <a:off x="1524000" y="1122363"/>
            <a:ext cx="9144000" cy="2387600"/>
          </a:xfrm>
        </p:spPr>
        <p:txBody>
          <a:bodyPr anchor="ctr">
            <a:normAutofit/>
          </a:bodyPr>
          <a:lstStyle>
            <a:lvl1pPr algn="l">
              <a:defRPr sz="5400">
                <a:solidFill>
                  <a:schemeClr val="bg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1FD6769C-C79D-4F8F-DF7E-0923FDA016D0}"/>
              </a:ext>
            </a:extLst>
          </p:cNvPr>
          <p:cNvSpPr>
            <a:spLocks noGrp="1" noRot="1" noMove="1" noResize="1" noEditPoints="1" noAdjustHandles="1" noChangeArrowheads="1" noChangeShapeType="1"/>
          </p:cNvSpPr>
          <p:nvPr>
            <p:ph type="subTitle" idx="1"/>
          </p:nvPr>
        </p:nvSpPr>
        <p:spPr>
          <a:xfrm>
            <a:off x="1524000" y="3602038"/>
            <a:ext cx="9144000" cy="1655762"/>
          </a:xfrm>
        </p:spPr>
        <p:txBody>
          <a:bodyPr>
            <a:normAutofit/>
          </a:bodyPr>
          <a:lstStyle>
            <a:lvl1pPr marL="0" indent="0" algn="l">
              <a:buNone/>
              <a:defRPr sz="2000">
                <a:solidFill>
                  <a:schemeClr val="bg1"/>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4" name="Espace réservé de la date 3">
            <a:extLst>
              <a:ext uri="{FF2B5EF4-FFF2-40B4-BE49-F238E27FC236}">
                <a16:creationId xmlns:a16="http://schemas.microsoft.com/office/drawing/2014/main" id="{2CE0F667-49D9-9B79-8085-C5F789D37A52}"/>
              </a:ext>
            </a:extLst>
          </p:cNvPr>
          <p:cNvSpPr>
            <a:spLocks noGrp="1" noRot="1" noMove="1" noResize="1" noEditPoints="1" noAdjustHandles="1" noChangeArrowheads="1" noChangeShapeType="1"/>
          </p:cNvSpPr>
          <p:nvPr>
            <p:ph type="dt" sz="half" idx="10"/>
          </p:nvPr>
        </p:nvSpPr>
        <p:spPr/>
        <p:txBody>
          <a:bodyPr/>
          <a:lstStyle/>
          <a:p>
            <a:fld id="{670F8F5E-FAD9-4DF2-87EE-0E6439773DB4}" type="datetime1">
              <a:rPr lang="fr-FR" smtClean="0"/>
              <a:t>12/08/2026</a:t>
            </a:fld>
            <a:endParaRPr lang="fr-FR" dirty="0"/>
          </a:p>
        </p:txBody>
      </p:sp>
      <p:sp>
        <p:nvSpPr>
          <p:cNvPr id="5" name="Espace réservé du pied de page 4">
            <a:extLst>
              <a:ext uri="{FF2B5EF4-FFF2-40B4-BE49-F238E27FC236}">
                <a16:creationId xmlns:a16="http://schemas.microsoft.com/office/drawing/2014/main" id="{047D47F2-272F-C949-EB30-09209A6FCDB4}"/>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7C6BEDF-980A-03FE-2838-58170EC35FC8}"/>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5" name="AutoShape 3">
            <a:extLst>
              <a:ext uri="{FF2B5EF4-FFF2-40B4-BE49-F238E27FC236}">
                <a16:creationId xmlns:a16="http://schemas.microsoft.com/office/drawing/2014/main" id="{C3CD0481-34F7-36B0-7172-0D19A1D92033}"/>
              </a:ext>
            </a:extLst>
          </p:cNvPr>
          <p:cNvSpPr>
            <a:spLocks noGrp="1" noRot="1" noMove="1" noResize="1" noEditPoints="1" noAdjustHandles="1" noChangeArrowheads="1" noChangeShapeType="1"/>
          </p:cNvSpPr>
          <p:nvPr userDrawn="1"/>
        </p:nvSpPr>
        <p:spPr>
          <a:xfrm>
            <a:off x="1549400" y="4759525"/>
            <a:ext cx="1800000" cy="0"/>
          </a:xfrm>
          <a:prstGeom prst="line">
            <a:avLst/>
          </a:prstGeom>
          <a:ln w="3175" cap="flat">
            <a:solidFill>
              <a:srgbClr val="FFFFFF"/>
            </a:solidFill>
            <a:prstDash val="solid"/>
            <a:headEnd type="none" w="sm" len="sm"/>
            <a:tailEnd type="none" w="sm" len="sm"/>
          </a:ln>
        </p:spPr>
        <p:txBody>
          <a:bodyPr/>
          <a:lstStyle/>
          <a:p>
            <a:endParaRPr lang="fr-FR"/>
          </a:p>
        </p:txBody>
      </p:sp>
      <p:sp>
        <p:nvSpPr>
          <p:cNvPr id="10" name="Freeform 3">
            <a:extLst>
              <a:ext uri="{FF2B5EF4-FFF2-40B4-BE49-F238E27FC236}">
                <a16:creationId xmlns:a16="http://schemas.microsoft.com/office/drawing/2014/main" id="{FBC4389A-3F03-ABAC-4FCB-9F74A6EEB299}"/>
              </a:ext>
            </a:extLst>
          </p:cNvPr>
          <p:cNvSpPr>
            <a:spLocks noGrp="1" noRot="1" noMove="1" noResize="1" noEditPoints="1" noAdjustHandles="1" noChangeArrowheads="1" noChangeShapeType="1"/>
          </p:cNvSpPr>
          <p:nvPr userDrawn="1"/>
        </p:nvSpPr>
        <p:spPr>
          <a:xfrm>
            <a:off x="9238036" y="5169619"/>
            <a:ext cx="1437585" cy="824781"/>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3"/>
            <a:stretch>
              <a:fillRect/>
            </a:stretch>
          </a:blipFill>
        </p:spPr>
        <p:txBody>
          <a:bodyPr/>
          <a:lstStyle/>
          <a:p>
            <a:endParaRPr lang="fr-FR"/>
          </a:p>
        </p:txBody>
      </p:sp>
      <p:pic>
        <p:nvPicPr>
          <p:cNvPr id="17" name="Graphique 16">
            <a:extLst>
              <a:ext uri="{FF2B5EF4-FFF2-40B4-BE49-F238E27FC236}">
                <a16:creationId xmlns:a16="http://schemas.microsoft.com/office/drawing/2014/main" id="{73016E1B-FC09-0923-F2D2-33AF3323F49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tretch>
            <a:fillRect/>
          </a:stretch>
        </p:blipFill>
        <p:spPr>
          <a:xfrm>
            <a:off x="5016000" y="5058995"/>
            <a:ext cx="2160000" cy="1033044"/>
          </a:xfrm>
          <a:prstGeom prst="rect">
            <a:avLst/>
          </a:prstGeom>
        </p:spPr>
      </p:pic>
    </p:spTree>
    <p:extLst>
      <p:ext uri="{BB962C8B-B14F-4D97-AF65-F5344CB8AC3E}">
        <p14:creationId xmlns:p14="http://schemas.microsoft.com/office/powerpoint/2010/main" val="2352611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38200" y="1990725"/>
            <a:ext cx="10515600" cy="4220405"/>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1F2C9E96-8C39-4749-8763-46921CE4FA8A}" type="datetime1">
              <a:rPr lang="fr-FR" smtClean="0"/>
              <a:t>12/08/2026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63179"/>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8" name="Freeform 9">
            <a:extLst>
              <a:ext uri="{FF2B5EF4-FFF2-40B4-BE49-F238E27FC236}">
                <a16:creationId xmlns:a16="http://schemas.microsoft.com/office/drawing/2014/main" id="{57D1B306-7018-4BBF-9355-4EC28955C749}"/>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9" name="Graphique 8">
            <a:extLst>
              <a:ext uri="{FF2B5EF4-FFF2-40B4-BE49-F238E27FC236}">
                <a16:creationId xmlns:a16="http://schemas.microsoft.com/office/drawing/2014/main" id="{05BE9617-FCB3-D89F-0AAD-EF9059CDE776}"/>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166706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63180"/>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6CFB26CC-2725-45E6-B05C-349C0D3E0243}" type="datetime1">
              <a:rPr lang="fr-FR" smtClean="0"/>
              <a:t>12/08/2026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8" name="Rectangle : coins arrondis 17">
            <a:extLst>
              <a:ext uri="{FF2B5EF4-FFF2-40B4-BE49-F238E27FC236}">
                <a16:creationId xmlns:a16="http://schemas.microsoft.com/office/drawing/2014/main" id="{3F4085F6-F2FB-AC6A-05CB-A7309346EC6A}"/>
              </a:ext>
            </a:extLst>
          </p:cNvPr>
          <p:cNvSpPr>
            <a:spLocks noGrp="1" noRot="1" noMove="1" noResize="1" noEditPoints="1" noAdjustHandles="1" noChangeArrowheads="1" noChangeShapeType="1"/>
          </p:cNvSpPr>
          <p:nvPr userDrawn="1"/>
        </p:nvSpPr>
        <p:spPr>
          <a:xfrm>
            <a:off x="8382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38200" y="2224360"/>
            <a:ext cx="4680000" cy="2968928"/>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11" name="Rectangle : coins arrondis 10">
            <a:extLst>
              <a:ext uri="{FF2B5EF4-FFF2-40B4-BE49-F238E27FC236}">
                <a16:creationId xmlns:a16="http://schemas.microsoft.com/office/drawing/2014/main" id="{4E3260CB-0A08-2005-909A-5E99DADFEBE7}"/>
              </a:ext>
            </a:extLst>
          </p:cNvPr>
          <p:cNvSpPr>
            <a:spLocks noGrp="1" noRot="1" noMove="1" noResize="1" noEditPoints="1" noAdjustHandles="1" noChangeArrowheads="1" noChangeShapeType="1"/>
          </p:cNvSpPr>
          <p:nvPr userDrawn="1"/>
        </p:nvSpPr>
        <p:spPr>
          <a:xfrm>
            <a:off x="66738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contenu 2">
            <a:extLst>
              <a:ext uri="{FF2B5EF4-FFF2-40B4-BE49-F238E27FC236}">
                <a16:creationId xmlns:a16="http://schemas.microsoft.com/office/drawing/2014/main" id="{4150D707-3560-D748-2D5D-BF2F0D3091A4}"/>
              </a:ext>
            </a:extLst>
          </p:cNvPr>
          <p:cNvSpPr>
            <a:spLocks noGrp="1" noRot="1" noMove="1" noResize="1" noEditPoints="1" noAdjustHandles="1" noChangeArrowheads="1" noChangeShapeType="1"/>
          </p:cNvSpPr>
          <p:nvPr>
            <p:ph idx="14"/>
          </p:nvPr>
        </p:nvSpPr>
        <p:spPr>
          <a:xfrm>
            <a:off x="6673800" y="2224360"/>
            <a:ext cx="4680000" cy="2968928"/>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cxnSp>
        <p:nvCxnSpPr>
          <p:cNvPr id="17" name="Connecteur droit 16">
            <a:extLst>
              <a:ext uri="{FF2B5EF4-FFF2-40B4-BE49-F238E27FC236}">
                <a16:creationId xmlns:a16="http://schemas.microsoft.com/office/drawing/2014/main" id="{1DA29909-4745-00CE-13EA-000EE57F14EE}"/>
              </a:ext>
            </a:extLst>
          </p:cNvPr>
          <p:cNvCxnSpPr>
            <a:cxnSpLocks noGrp="1" noRot="1" noMove="1" noResize="1" noEditPoints="1" noAdjustHandles="1" noChangeArrowheads="1" noChangeShapeType="1"/>
          </p:cNvCxnSpPr>
          <p:nvPr userDrawn="1"/>
        </p:nvCxnSpPr>
        <p:spPr>
          <a:xfrm>
            <a:off x="6096000" y="2438400"/>
            <a:ext cx="0" cy="2552700"/>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26" name="Freeform 9">
            <a:extLst>
              <a:ext uri="{FF2B5EF4-FFF2-40B4-BE49-F238E27FC236}">
                <a16:creationId xmlns:a16="http://schemas.microsoft.com/office/drawing/2014/main" id="{8DB1B8C0-6279-EB02-7E6D-50DDB6062163}"/>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28" name="Graphique 27">
            <a:extLst>
              <a:ext uri="{FF2B5EF4-FFF2-40B4-BE49-F238E27FC236}">
                <a16:creationId xmlns:a16="http://schemas.microsoft.com/office/drawing/2014/main" id="{DB78041A-1D23-39D6-4B35-7FED2C6E25F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31033992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9372075B-535F-4F05-8E73-038CD02F05CC}" type="datetime1">
              <a:rPr lang="fr-FR" smtClean="0"/>
              <a:t>12/08/2026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63182"/>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18" name="Rectangle : coins arrondis 17">
            <a:extLst>
              <a:ext uri="{FF2B5EF4-FFF2-40B4-BE49-F238E27FC236}">
                <a16:creationId xmlns:a16="http://schemas.microsoft.com/office/drawing/2014/main" id="{3F4085F6-F2FB-AC6A-05CB-A7309346EC6A}"/>
              </a:ext>
            </a:extLst>
          </p:cNvPr>
          <p:cNvSpPr>
            <a:spLocks noGrp="1" noRot="1" noMove="1" noResize="1" noEditPoints="1" noAdjustHandles="1" noChangeArrowheads="1" noChangeShapeType="1"/>
          </p:cNvSpPr>
          <p:nvPr userDrawn="1"/>
        </p:nvSpPr>
        <p:spPr>
          <a:xfrm>
            <a:off x="838201"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38201" y="2251030"/>
            <a:ext cx="3240000" cy="3153269"/>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16" name="Rectangle : coins arrondis 15">
            <a:extLst>
              <a:ext uri="{FF2B5EF4-FFF2-40B4-BE49-F238E27FC236}">
                <a16:creationId xmlns:a16="http://schemas.microsoft.com/office/drawing/2014/main" id="{D78E753F-8F2D-EA9A-0153-E45ABB3F64BB}"/>
              </a:ext>
            </a:extLst>
          </p:cNvPr>
          <p:cNvSpPr>
            <a:spLocks noGrp="1" noRot="1" noMove="1" noResize="1" noEditPoints="1" noAdjustHandles="1" noChangeArrowheads="1" noChangeShapeType="1"/>
          </p:cNvSpPr>
          <p:nvPr userDrawn="1"/>
        </p:nvSpPr>
        <p:spPr>
          <a:xfrm>
            <a:off x="4476000"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space réservé du contenu 2">
            <a:extLst>
              <a:ext uri="{FF2B5EF4-FFF2-40B4-BE49-F238E27FC236}">
                <a16:creationId xmlns:a16="http://schemas.microsoft.com/office/drawing/2014/main" id="{448A2DBC-02E6-AFFA-A43D-846DAD8B6D38}"/>
              </a:ext>
            </a:extLst>
          </p:cNvPr>
          <p:cNvSpPr>
            <a:spLocks noGrp="1" noRot="1" noMove="1" noResize="1" noEditPoints="1" noAdjustHandles="1" noChangeArrowheads="1" noChangeShapeType="1"/>
          </p:cNvSpPr>
          <p:nvPr>
            <p:ph idx="14"/>
          </p:nvPr>
        </p:nvSpPr>
        <p:spPr>
          <a:xfrm>
            <a:off x="4476000" y="2251030"/>
            <a:ext cx="3240000" cy="3153269"/>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13" name="Rectangle : coins arrondis 12">
            <a:extLst>
              <a:ext uri="{FF2B5EF4-FFF2-40B4-BE49-F238E27FC236}">
                <a16:creationId xmlns:a16="http://schemas.microsoft.com/office/drawing/2014/main" id="{0FFD2875-198C-70E9-03AD-4DF4CDD6735B}"/>
              </a:ext>
            </a:extLst>
          </p:cNvPr>
          <p:cNvSpPr>
            <a:spLocks noGrp="1" noRot="1" noMove="1" noResize="1" noEditPoints="1" noAdjustHandles="1" noChangeArrowheads="1" noChangeShapeType="1"/>
          </p:cNvSpPr>
          <p:nvPr userDrawn="1"/>
        </p:nvSpPr>
        <p:spPr>
          <a:xfrm>
            <a:off x="8113799" y="2251030"/>
            <a:ext cx="3240000" cy="317498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space réservé du contenu 2">
            <a:extLst>
              <a:ext uri="{FF2B5EF4-FFF2-40B4-BE49-F238E27FC236}">
                <a16:creationId xmlns:a16="http://schemas.microsoft.com/office/drawing/2014/main" id="{2DB75632-6E0F-F9DB-9F00-47C01E1ED96F}"/>
              </a:ext>
            </a:extLst>
          </p:cNvPr>
          <p:cNvSpPr>
            <a:spLocks noGrp="1" noRot="1" noMove="1" noResize="1" noEditPoints="1" noAdjustHandles="1" noChangeArrowheads="1" noChangeShapeType="1"/>
          </p:cNvSpPr>
          <p:nvPr>
            <p:ph idx="15"/>
          </p:nvPr>
        </p:nvSpPr>
        <p:spPr>
          <a:xfrm>
            <a:off x="8113799" y="2251031"/>
            <a:ext cx="3240000" cy="3153600"/>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9" name="Freeform 9">
            <a:extLst>
              <a:ext uri="{FF2B5EF4-FFF2-40B4-BE49-F238E27FC236}">
                <a16:creationId xmlns:a16="http://schemas.microsoft.com/office/drawing/2014/main" id="{8BDCDD73-A1E8-8C00-6484-A41B084ED4B9}"/>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2" name="Graphique 11">
            <a:extLst>
              <a:ext uri="{FF2B5EF4-FFF2-40B4-BE49-F238E27FC236}">
                <a16:creationId xmlns:a16="http://schemas.microsoft.com/office/drawing/2014/main" id="{677AEE64-35C4-A05E-0FEE-3242EAEA852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3888360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0969"/>
          </a:xfrm>
        </p:spPr>
        <p:txBody>
          <a:bodyPr/>
          <a:lstStyle/>
          <a:p>
            <a:r>
              <a:rPr lang="fr-FR"/>
              <a:t>Modifiez le style du titre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B77B16B1-2A42-412B-8D41-E75ECB4A4282}" type="datetime1">
              <a:rPr lang="fr-FR" smtClean="0"/>
              <a:t>12/08/2026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54215"/>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23" name="Rectangle : coins arrondis 22">
            <a:extLst>
              <a:ext uri="{FF2B5EF4-FFF2-40B4-BE49-F238E27FC236}">
                <a16:creationId xmlns:a16="http://schemas.microsoft.com/office/drawing/2014/main" id="{99C3E6D1-A8ED-E949-22B7-30D218C2D6A5}"/>
              </a:ext>
            </a:extLst>
          </p:cNvPr>
          <p:cNvSpPr>
            <a:spLocks noGrp="1" noRot="1" noMove="1" noResize="1" noEditPoints="1" noAdjustHandles="1" noChangeArrowheads="1" noChangeShapeType="1"/>
          </p:cNvSpPr>
          <p:nvPr userDrawn="1"/>
        </p:nvSpPr>
        <p:spPr>
          <a:xfrm>
            <a:off x="6673801"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space réservé du contenu 2">
            <a:extLst>
              <a:ext uri="{FF2B5EF4-FFF2-40B4-BE49-F238E27FC236}">
                <a16:creationId xmlns:a16="http://schemas.microsoft.com/office/drawing/2014/main" id="{08A51935-41F4-3EC8-E972-D4F38B74F528}"/>
              </a:ext>
            </a:extLst>
          </p:cNvPr>
          <p:cNvSpPr>
            <a:spLocks noGrp="1" noRot="1" noMove="1" noResize="1" noEditPoints="1" noAdjustHandles="1" noChangeArrowheads="1" noChangeShapeType="1"/>
          </p:cNvSpPr>
          <p:nvPr>
            <p:ph idx="14"/>
          </p:nvPr>
        </p:nvSpPr>
        <p:spPr>
          <a:xfrm>
            <a:off x="6673800" y="2689412"/>
            <a:ext cx="4680000" cy="2503876"/>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cxnSp>
        <p:nvCxnSpPr>
          <p:cNvPr id="25" name="Connecteur droit 24">
            <a:extLst>
              <a:ext uri="{FF2B5EF4-FFF2-40B4-BE49-F238E27FC236}">
                <a16:creationId xmlns:a16="http://schemas.microsoft.com/office/drawing/2014/main" id="{94E2DE63-E2EF-B8C8-AE9A-1027D8122292}"/>
              </a:ext>
            </a:extLst>
          </p:cNvPr>
          <p:cNvCxnSpPr>
            <a:cxnSpLocks noGrp="1" noRot="1" noMove="1" noResize="1" noEditPoints="1" noAdjustHandles="1" noChangeArrowheads="1" noChangeShapeType="1"/>
          </p:cNvCxnSpPr>
          <p:nvPr userDrawn="1"/>
        </p:nvCxnSpPr>
        <p:spPr>
          <a:xfrm>
            <a:off x="6096000" y="2838254"/>
            <a:ext cx="0" cy="2152846"/>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36" name="TextBox 19">
            <a:extLst>
              <a:ext uri="{FF2B5EF4-FFF2-40B4-BE49-F238E27FC236}">
                <a16:creationId xmlns:a16="http://schemas.microsoft.com/office/drawing/2014/main" id="{C3B3E227-1567-CD90-20ED-2BAF638E3971}"/>
              </a:ext>
            </a:extLst>
          </p:cNvPr>
          <p:cNvSpPr txBox="1">
            <a:spLocks noGrp="1" noRot="1" noMove="1" noResize="1" noEditPoints="1" noAdjustHandles="1" noChangeArrowheads="1" noChangeShapeType="1"/>
          </p:cNvSpPr>
          <p:nvPr userDrawn="1"/>
        </p:nvSpPr>
        <p:spPr>
          <a:xfrm>
            <a:off x="6833020" y="2096980"/>
            <a:ext cx="4520780" cy="313676"/>
          </a:xfrm>
          <a:prstGeom prst="rect">
            <a:avLst/>
          </a:prstGeom>
        </p:spPr>
        <p:txBody>
          <a:bodyPr wrap="square" lIns="0" tIns="0" rIns="0" bIns="0" rtlCol="0" anchor="t">
            <a:spAutoFit/>
          </a:bodyPr>
          <a:lstStyle/>
          <a:p>
            <a:pPr algn="l">
              <a:lnSpc>
                <a:spcPts val="2800"/>
              </a:lnSpc>
            </a:pPr>
            <a:r>
              <a:rPr lang="en-US" sz="1400" b="1" dirty="0" err="1">
                <a:solidFill>
                  <a:srgbClr val="261E48"/>
                </a:solidFill>
                <a:latin typeface="Montserrat Bold"/>
                <a:ea typeface="Montserrat Bold"/>
                <a:cs typeface="Montserrat Bold"/>
                <a:sym typeface="Montserrat Bold"/>
              </a:rPr>
              <a:t>Titre</a:t>
            </a:r>
            <a:endParaRPr lang="en-US" sz="1400" b="1" dirty="0">
              <a:solidFill>
                <a:srgbClr val="261E48"/>
              </a:solidFill>
              <a:latin typeface="Montserrat Bold"/>
              <a:ea typeface="Montserrat Bold"/>
              <a:cs typeface="Montserrat Bold"/>
              <a:sym typeface="Montserrat Bold"/>
            </a:endParaRPr>
          </a:p>
        </p:txBody>
      </p:sp>
      <p:sp>
        <p:nvSpPr>
          <p:cNvPr id="40" name="Rectangle : coins arrondis 39">
            <a:extLst>
              <a:ext uri="{FF2B5EF4-FFF2-40B4-BE49-F238E27FC236}">
                <a16:creationId xmlns:a16="http://schemas.microsoft.com/office/drawing/2014/main" id="{FD963364-FC8E-B2D0-E6E4-ADF489C820BF}"/>
              </a:ext>
            </a:extLst>
          </p:cNvPr>
          <p:cNvSpPr>
            <a:spLocks noGrp="1" noRot="1" noMove="1" noResize="1" noEditPoints="1" noAdjustHandles="1" noChangeArrowheads="1" noChangeShapeType="1"/>
          </p:cNvSpPr>
          <p:nvPr userDrawn="1"/>
        </p:nvSpPr>
        <p:spPr>
          <a:xfrm>
            <a:off x="838202"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Espace réservé du contenu 2">
            <a:extLst>
              <a:ext uri="{FF2B5EF4-FFF2-40B4-BE49-F238E27FC236}">
                <a16:creationId xmlns:a16="http://schemas.microsoft.com/office/drawing/2014/main" id="{EEB09D77-D180-748A-7F0E-78360B6818C5}"/>
              </a:ext>
            </a:extLst>
          </p:cNvPr>
          <p:cNvSpPr>
            <a:spLocks noGrp="1" noRot="1" noMove="1" noResize="1" noEditPoints="1" noAdjustHandles="1" noChangeArrowheads="1" noChangeShapeType="1"/>
          </p:cNvSpPr>
          <p:nvPr>
            <p:ph idx="15"/>
          </p:nvPr>
        </p:nvSpPr>
        <p:spPr>
          <a:xfrm>
            <a:off x="838201" y="2689412"/>
            <a:ext cx="4680000" cy="2503876"/>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43" name="TextBox 19">
            <a:extLst>
              <a:ext uri="{FF2B5EF4-FFF2-40B4-BE49-F238E27FC236}">
                <a16:creationId xmlns:a16="http://schemas.microsoft.com/office/drawing/2014/main" id="{23B0DC89-E679-5DC2-3084-CD9D159EBA55}"/>
              </a:ext>
            </a:extLst>
          </p:cNvPr>
          <p:cNvSpPr txBox="1">
            <a:spLocks noGrp="1" noRot="1" noMove="1" noResize="1" noEditPoints="1" noAdjustHandles="1" noChangeArrowheads="1" noChangeShapeType="1"/>
          </p:cNvSpPr>
          <p:nvPr userDrawn="1"/>
        </p:nvSpPr>
        <p:spPr>
          <a:xfrm>
            <a:off x="997421" y="2096980"/>
            <a:ext cx="4520780" cy="313676"/>
          </a:xfrm>
          <a:prstGeom prst="rect">
            <a:avLst/>
          </a:prstGeom>
        </p:spPr>
        <p:txBody>
          <a:bodyPr wrap="square" lIns="0" tIns="0" rIns="0" bIns="0" rtlCol="0" anchor="t">
            <a:spAutoFit/>
          </a:bodyPr>
          <a:lstStyle/>
          <a:p>
            <a:pPr algn="l">
              <a:lnSpc>
                <a:spcPts val="2800"/>
              </a:lnSpc>
            </a:pPr>
            <a:r>
              <a:rPr lang="en-US" sz="1400" b="1" dirty="0" err="1">
                <a:solidFill>
                  <a:srgbClr val="261E48"/>
                </a:solidFill>
                <a:latin typeface="Montserrat Bold"/>
                <a:ea typeface="Montserrat Bold"/>
                <a:cs typeface="Montserrat Bold"/>
                <a:sym typeface="Montserrat Bold"/>
              </a:rPr>
              <a:t>Titre</a:t>
            </a:r>
            <a:endParaRPr lang="en-US" sz="1400" b="1" dirty="0">
              <a:solidFill>
                <a:srgbClr val="261E48"/>
              </a:solidFill>
              <a:latin typeface="Montserrat Bold"/>
              <a:ea typeface="Montserrat Bold"/>
              <a:cs typeface="Montserrat Bold"/>
              <a:sym typeface="Montserrat Bold"/>
            </a:endParaRPr>
          </a:p>
        </p:txBody>
      </p:sp>
      <p:sp>
        <p:nvSpPr>
          <p:cNvPr id="45" name="Freeform 9">
            <a:extLst>
              <a:ext uri="{FF2B5EF4-FFF2-40B4-BE49-F238E27FC236}">
                <a16:creationId xmlns:a16="http://schemas.microsoft.com/office/drawing/2014/main" id="{ABAC7C0C-5C53-F415-9CB2-3AD1057E2FE8}"/>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47" name="Graphique 46">
            <a:extLst>
              <a:ext uri="{FF2B5EF4-FFF2-40B4-BE49-F238E27FC236}">
                <a16:creationId xmlns:a16="http://schemas.microsoft.com/office/drawing/2014/main" id="{28177FCF-884F-39C7-E251-0967A5B538C9}"/>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15325392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0969"/>
          </a:xfrm>
        </p:spPr>
        <p:txBody>
          <a:bodyPr/>
          <a:lstStyle/>
          <a:p>
            <a:r>
              <a:rPr lang="fr-FR"/>
              <a:t>Modifiez le style du titre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4C0ED622-32BC-44E2-86ED-F761501B369C}" type="datetime1">
              <a:rPr lang="fr-FR" smtClean="0"/>
              <a:t>12/08/2026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54215"/>
            <a:ext cx="10067926"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38" name="Espace réservé du contenu 2">
            <a:extLst>
              <a:ext uri="{FF2B5EF4-FFF2-40B4-BE49-F238E27FC236}">
                <a16:creationId xmlns:a16="http://schemas.microsoft.com/office/drawing/2014/main" id="{04443A4C-F69E-931F-76DB-C3F3DE039908}"/>
              </a:ext>
            </a:extLst>
          </p:cNvPr>
          <p:cNvSpPr>
            <a:spLocks noGrp="1" noRot="1" noMove="1" noResize="1" noEditPoints="1" noAdjustHandles="1" noChangeArrowheads="1" noChangeShapeType="1"/>
          </p:cNvSpPr>
          <p:nvPr>
            <p:ph idx="15"/>
          </p:nvPr>
        </p:nvSpPr>
        <p:spPr>
          <a:xfrm>
            <a:off x="838199" y="2133599"/>
            <a:ext cx="4680000" cy="3836699"/>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11" name="Espace réservé du contenu 2">
            <a:extLst>
              <a:ext uri="{FF2B5EF4-FFF2-40B4-BE49-F238E27FC236}">
                <a16:creationId xmlns:a16="http://schemas.microsoft.com/office/drawing/2014/main" id="{8926C44A-C958-EE95-098B-E32D23CAD8F5}"/>
              </a:ext>
            </a:extLst>
          </p:cNvPr>
          <p:cNvSpPr>
            <a:spLocks noGrp="1" noRot="1" noMove="1" noResize="1" noEditPoints="1" noAdjustHandles="1" noChangeArrowheads="1" noChangeShapeType="1"/>
          </p:cNvSpPr>
          <p:nvPr>
            <p:ph idx="16"/>
          </p:nvPr>
        </p:nvSpPr>
        <p:spPr>
          <a:xfrm>
            <a:off x="6673800" y="2133599"/>
            <a:ext cx="4680000" cy="3836699"/>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7" name="Freeform 9">
            <a:extLst>
              <a:ext uri="{FF2B5EF4-FFF2-40B4-BE49-F238E27FC236}">
                <a16:creationId xmlns:a16="http://schemas.microsoft.com/office/drawing/2014/main" id="{77C44F22-EA03-8824-79CD-D39933DD5E27}"/>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2" name="Graphique 11">
            <a:extLst>
              <a:ext uri="{FF2B5EF4-FFF2-40B4-BE49-F238E27FC236}">
                <a16:creationId xmlns:a16="http://schemas.microsoft.com/office/drawing/2014/main" id="{8F7FDAAA-F179-F643-A04C-8AC65B5858E5}"/>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23226119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6FA5B1-252A-A2FA-B0CB-EB776233DA9E}"/>
              </a:ext>
            </a:extLst>
          </p:cNvPr>
          <p:cNvSpPr>
            <a:spLocks noGrp="1" noRot="1" noMove="1" noResize="1" noEditPoints="1" noAdjustHandles="1" noChangeArrowheads="1" noChangeShapeType="1"/>
          </p:cNvSpPr>
          <p:nvPr>
            <p:ph type="title"/>
          </p:nvPr>
        </p:nvSpPr>
        <p:spPr>
          <a:xfrm>
            <a:off x="839788" y="365125"/>
            <a:ext cx="10515600" cy="882000"/>
          </a:xfrm>
        </p:spPr>
        <p:txBody>
          <a:bodyPr/>
          <a:lstStyle/>
          <a:p>
            <a:r>
              <a:rPr lang="fr-FR"/>
              <a:t>Modifiez le style du titre</a:t>
            </a:r>
            <a:endParaRPr lang="fr-FR" dirty="0"/>
          </a:p>
        </p:txBody>
      </p:sp>
      <p:sp>
        <p:nvSpPr>
          <p:cNvPr id="3" name="Espace réservé du texte 2">
            <a:extLst>
              <a:ext uri="{FF2B5EF4-FFF2-40B4-BE49-F238E27FC236}">
                <a16:creationId xmlns:a16="http://schemas.microsoft.com/office/drawing/2014/main" id="{ADD54793-FF99-0625-042A-72D57CA25440}"/>
              </a:ext>
            </a:extLst>
          </p:cNvPr>
          <p:cNvSpPr>
            <a:spLocks noGrp="1" noRot="1" noMove="1" noResize="1" noEditPoints="1" noAdjustHandles="1" noChangeArrowheads="1" noChangeShapeType="1"/>
          </p:cNvSpPr>
          <p:nvPr>
            <p:ph type="body" idx="1"/>
          </p:nvPr>
        </p:nvSpPr>
        <p:spPr>
          <a:xfrm>
            <a:off x="839788" y="126878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0A3F7AC-4362-6646-0DC6-7FF2EEB1D690}"/>
              </a:ext>
            </a:extLst>
          </p:cNvPr>
          <p:cNvSpPr>
            <a:spLocks noGrp="1" noRot="1" noMove="1" noResize="1" noEditPoints="1" noAdjustHandles="1" noChangeArrowheads="1" noChangeShapeType="1"/>
          </p:cNvSpPr>
          <p:nvPr>
            <p:ph sz="half" idx="2"/>
          </p:nvPr>
        </p:nvSpPr>
        <p:spPr>
          <a:xfrm>
            <a:off x="839788" y="2128553"/>
            <a:ext cx="5157787" cy="3684588"/>
          </a:xfrm>
        </p:spPr>
        <p:txBody>
          <a:bodyPr/>
          <a:lstStyle>
            <a:lvl1pPr>
              <a:defRPr>
                <a:latin typeface="Montserrat" pitchFamily="2" charset="0"/>
              </a:defRPr>
            </a:lvl1pPr>
            <a:lvl2pPr>
              <a:defRPr>
                <a:latin typeface="Montserrat" pitchFamily="2" charset="0"/>
              </a:defRPr>
            </a:lvl2pPr>
            <a:lvl3pPr>
              <a:defRPr>
                <a:latin typeface="Montserrat" pitchFamily="2" charset="0"/>
              </a:defRPr>
            </a:lvl3pPr>
            <a:lvl4pPr>
              <a:defRPr>
                <a:latin typeface="Montserrat" pitchFamily="2" charset="0"/>
              </a:defRPr>
            </a:lvl4pPr>
            <a:lvl5pPr>
              <a:defRPr>
                <a:latin typeface="Montserra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texte 4">
            <a:extLst>
              <a:ext uri="{FF2B5EF4-FFF2-40B4-BE49-F238E27FC236}">
                <a16:creationId xmlns:a16="http://schemas.microsoft.com/office/drawing/2014/main" id="{8A999CD8-D1B9-2EFD-1C09-729E9531D8DB}"/>
              </a:ext>
            </a:extLst>
          </p:cNvPr>
          <p:cNvSpPr>
            <a:spLocks noGrp="1" noRot="1" noMove="1" noResize="1" noEditPoints="1" noAdjustHandles="1" noChangeArrowheads="1" noChangeShapeType="1"/>
          </p:cNvSpPr>
          <p:nvPr>
            <p:ph type="body" sz="quarter" idx="3"/>
          </p:nvPr>
        </p:nvSpPr>
        <p:spPr>
          <a:xfrm>
            <a:off x="6172200" y="126878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EC497F3-A449-09C3-74E7-D9E6FA9A78BA}"/>
              </a:ext>
            </a:extLst>
          </p:cNvPr>
          <p:cNvSpPr>
            <a:spLocks noGrp="1" noRot="1" noMove="1" noResize="1" noEditPoints="1" noAdjustHandles="1" noChangeArrowheads="1" noChangeShapeType="1"/>
          </p:cNvSpPr>
          <p:nvPr>
            <p:ph sz="quarter" idx="4"/>
          </p:nvPr>
        </p:nvSpPr>
        <p:spPr>
          <a:xfrm>
            <a:off x="6172200" y="2128553"/>
            <a:ext cx="5183188" cy="3684588"/>
          </a:xfrm>
        </p:spPr>
        <p:txBody>
          <a:bodyPr/>
          <a:lstStyle>
            <a:lvl1pPr>
              <a:defRPr>
                <a:latin typeface="Montserrat" pitchFamily="2" charset="0"/>
              </a:defRPr>
            </a:lvl1pPr>
            <a:lvl2pPr>
              <a:defRPr>
                <a:latin typeface="Montserrat" pitchFamily="2" charset="0"/>
              </a:defRPr>
            </a:lvl2pPr>
            <a:lvl3pPr>
              <a:defRPr>
                <a:latin typeface="Montserrat" pitchFamily="2" charset="0"/>
              </a:defRPr>
            </a:lvl3pPr>
            <a:lvl4pPr>
              <a:defRPr>
                <a:latin typeface="Montserrat" pitchFamily="2" charset="0"/>
              </a:defRPr>
            </a:lvl4pPr>
            <a:lvl5pPr>
              <a:defRPr>
                <a:latin typeface="Montserra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e la date 6">
            <a:extLst>
              <a:ext uri="{FF2B5EF4-FFF2-40B4-BE49-F238E27FC236}">
                <a16:creationId xmlns:a16="http://schemas.microsoft.com/office/drawing/2014/main" id="{D73D6C0A-03C4-B38D-530B-4DEAA4057662}"/>
              </a:ext>
            </a:extLst>
          </p:cNvPr>
          <p:cNvSpPr>
            <a:spLocks noGrp="1" noRot="1" noMove="1" noResize="1" noEditPoints="1" noAdjustHandles="1" noChangeArrowheads="1" noChangeShapeType="1"/>
          </p:cNvSpPr>
          <p:nvPr>
            <p:ph type="dt" sz="half" idx="10"/>
          </p:nvPr>
        </p:nvSpPr>
        <p:spPr/>
        <p:txBody>
          <a:bodyPr/>
          <a:lstStyle/>
          <a:p>
            <a:fld id="{5D8A63D6-5519-481F-83D6-82004FF8A44A}" type="datetime1">
              <a:rPr lang="fr-FR" smtClean="0"/>
              <a:t>12/08/2026</a:t>
            </a:fld>
            <a:endParaRPr lang="fr-FR"/>
          </a:p>
        </p:txBody>
      </p:sp>
      <p:sp>
        <p:nvSpPr>
          <p:cNvPr id="8" name="Espace réservé du pied de page 7">
            <a:extLst>
              <a:ext uri="{FF2B5EF4-FFF2-40B4-BE49-F238E27FC236}">
                <a16:creationId xmlns:a16="http://schemas.microsoft.com/office/drawing/2014/main" id="{CDE1E781-4F11-4D2E-E736-B227980D04F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E311E42-B9DF-0268-1404-085C0558159C}"/>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2" name="Freeform 9">
            <a:extLst>
              <a:ext uri="{FF2B5EF4-FFF2-40B4-BE49-F238E27FC236}">
                <a16:creationId xmlns:a16="http://schemas.microsoft.com/office/drawing/2014/main" id="{239AF4B4-C299-17B9-75F6-44817CFCB87A}"/>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4" name="Graphique 13">
            <a:extLst>
              <a:ext uri="{FF2B5EF4-FFF2-40B4-BE49-F238E27FC236}">
                <a16:creationId xmlns:a16="http://schemas.microsoft.com/office/drawing/2014/main" id="{7730B1BB-05DC-00A5-1182-5D7EAC53391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2037753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3BB5C8-070C-5B8F-5A33-9F5952DFA16E}"/>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3" name="Espace réservé de la date 2">
            <a:extLst>
              <a:ext uri="{FF2B5EF4-FFF2-40B4-BE49-F238E27FC236}">
                <a16:creationId xmlns:a16="http://schemas.microsoft.com/office/drawing/2014/main" id="{657D282C-573F-0644-ED51-815B2C49DEB4}"/>
              </a:ext>
            </a:extLst>
          </p:cNvPr>
          <p:cNvSpPr>
            <a:spLocks noGrp="1" noRot="1" noMove="1" noResize="1" noEditPoints="1" noAdjustHandles="1" noChangeArrowheads="1" noChangeShapeType="1"/>
          </p:cNvSpPr>
          <p:nvPr>
            <p:ph type="dt" sz="half" idx="10"/>
          </p:nvPr>
        </p:nvSpPr>
        <p:spPr/>
        <p:txBody>
          <a:bodyPr/>
          <a:lstStyle/>
          <a:p>
            <a:fld id="{788D326E-31FC-4603-9A96-08168D8CEDB1}" type="datetime1">
              <a:rPr lang="fr-FR" smtClean="0"/>
              <a:t>12/08/2026</a:t>
            </a:fld>
            <a:endParaRPr lang="fr-FR" dirty="0"/>
          </a:p>
        </p:txBody>
      </p:sp>
      <p:sp>
        <p:nvSpPr>
          <p:cNvPr id="4" name="Espace réservé du pied de page 3">
            <a:extLst>
              <a:ext uri="{FF2B5EF4-FFF2-40B4-BE49-F238E27FC236}">
                <a16:creationId xmlns:a16="http://schemas.microsoft.com/office/drawing/2014/main" id="{F536D820-CD29-9C3E-D55E-19E5CACDC8D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E78BD0F-B5CF-36B3-BC88-EDD13C754226}"/>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8" name="Freeform 9">
            <a:extLst>
              <a:ext uri="{FF2B5EF4-FFF2-40B4-BE49-F238E27FC236}">
                <a16:creationId xmlns:a16="http://schemas.microsoft.com/office/drawing/2014/main" id="{3C7346FD-5D3C-C568-5555-59C20019C6B5}"/>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0" name="Graphique 9">
            <a:extLst>
              <a:ext uri="{FF2B5EF4-FFF2-40B4-BE49-F238E27FC236}">
                <a16:creationId xmlns:a16="http://schemas.microsoft.com/office/drawing/2014/main" id="{0F89AF32-B56E-0130-1E5B-C6A738DF55D7}"/>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
        <p:nvSpPr>
          <p:cNvPr id="11" name="Espace réservé du contenu 2">
            <a:extLst>
              <a:ext uri="{FF2B5EF4-FFF2-40B4-BE49-F238E27FC236}">
                <a16:creationId xmlns:a16="http://schemas.microsoft.com/office/drawing/2014/main" id="{B594B31F-341E-4366-56B5-DCB1BC639B19}"/>
              </a:ext>
            </a:extLst>
          </p:cNvPr>
          <p:cNvSpPr>
            <a:spLocks noGrp="1" noRot="1" noMove="1" noResize="1" noEditPoints="1" noAdjustHandles="1" noChangeArrowheads="1" noChangeShapeType="1"/>
          </p:cNvSpPr>
          <p:nvPr>
            <p:ph idx="1"/>
          </p:nvPr>
        </p:nvSpPr>
        <p:spPr>
          <a:xfrm>
            <a:off x="838200" y="1381119"/>
            <a:ext cx="10515600" cy="4220405"/>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Tree>
    <p:extLst>
      <p:ext uri="{BB962C8B-B14F-4D97-AF65-F5344CB8AC3E}">
        <p14:creationId xmlns:p14="http://schemas.microsoft.com/office/powerpoint/2010/main" val="3634086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nnin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47" name="Rectangle : coins arrondis 46">
            <a:extLst>
              <a:ext uri="{FF2B5EF4-FFF2-40B4-BE49-F238E27FC236}">
                <a16:creationId xmlns:a16="http://schemas.microsoft.com/office/drawing/2014/main" id="{39EEFA43-ACCC-2DDB-493D-9D0BC8D287E1}"/>
              </a:ext>
            </a:extLst>
          </p:cNvPr>
          <p:cNvSpPr>
            <a:spLocks noGrp="1" noRot="1" noMove="1" noResize="1" noEditPoints="1" noAdjustHandles="1" noChangeArrowheads="1" noChangeShapeType="1"/>
          </p:cNvSpPr>
          <p:nvPr userDrawn="1"/>
        </p:nvSpPr>
        <p:spPr>
          <a:xfrm>
            <a:off x="838200" y="1798535"/>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Lundi</a:t>
            </a:r>
            <a:endParaRPr lang="fr-FR" dirty="0">
              <a:latin typeface="Montserrat" pitchFamily="2" charset="0"/>
            </a:endParaRPr>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99C81A82-B47E-4747-9997-636BAF5B294E}" type="datetime1">
              <a:rPr lang="fr-FR" smtClean="0"/>
              <a:t>12/08/2026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8" name="Rectangle : coins arrondis 17">
            <a:extLst>
              <a:ext uri="{FF2B5EF4-FFF2-40B4-BE49-F238E27FC236}">
                <a16:creationId xmlns:a16="http://schemas.microsoft.com/office/drawing/2014/main" id="{3F4085F6-F2FB-AC6A-05CB-A7309346EC6A}"/>
              </a:ext>
            </a:extLst>
          </p:cNvPr>
          <p:cNvSpPr>
            <a:spLocks noGrp="1" noRot="1" noMove="1" noResize="1" noEditPoints="1" noAdjustHandles="1" noChangeArrowheads="1" noChangeShapeType="1"/>
          </p:cNvSpPr>
          <p:nvPr userDrawn="1"/>
        </p:nvSpPr>
        <p:spPr>
          <a:xfrm>
            <a:off x="870341"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70341" y="2120223"/>
            <a:ext cx="1915718" cy="1427672"/>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9" name="Freeform 9">
            <a:extLst>
              <a:ext uri="{FF2B5EF4-FFF2-40B4-BE49-F238E27FC236}">
                <a16:creationId xmlns:a16="http://schemas.microsoft.com/office/drawing/2014/main" id="{8BDCDD73-A1E8-8C00-6484-A41B084ED4B9}"/>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2" name="Graphique 11">
            <a:extLst>
              <a:ext uri="{FF2B5EF4-FFF2-40B4-BE49-F238E27FC236}">
                <a16:creationId xmlns:a16="http://schemas.microsoft.com/office/drawing/2014/main" id="{677AEE64-35C4-A05E-0FEE-3242EAEA852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
        <p:nvSpPr>
          <p:cNvPr id="36" name="Rectangle : coins arrondis 35">
            <a:extLst>
              <a:ext uri="{FF2B5EF4-FFF2-40B4-BE49-F238E27FC236}">
                <a16:creationId xmlns:a16="http://schemas.microsoft.com/office/drawing/2014/main" id="{DFA65BD8-FF98-189F-F39E-24C453CA7E4A}"/>
              </a:ext>
            </a:extLst>
          </p:cNvPr>
          <p:cNvSpPr>
            <a:spLocks noGrp="1" noRot="1" noMove="1" noResize="1" noEditPoints="1" noAdjustHandles="1" noChangeArrowheads="1" noChangeShapeType="1"/>
          </p:cNvSpPr>
          <p:nvPr userDrawn="1"/>
        </p:nvSpPr>
        <p:spPr>
          <a:xfrm>
            <a:off x="870341"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space réservé du contenu 2">
            <a:extLst>
              <a:ext uri="{FF2B5EF4-FFF2-40B4-BE49-F238E27FC236}">
                <a16:creationId xmlns:a16="http://schemas.microsoft.com/office/drawing/2014/main" id="{5EA65321-D4FD-4BA9-B562-AFAA6EE48596}"/>
              </a:ext>
            </a:extLst>
          </p:cNvPr>
          <p:cNvSpPr>
            <a:spLocks noGrp="1" noRot="1" noMove="1" noResize="1" noEditPoints="1" noAdjustHandles="1" noChangeArrowheads="1" noChangeShapeType="1"/>
          </p:cNvSpPr>
          <p:nvPr>
            <p:ph idx="18"/>
          </p:nvPr>
        </p:nvSpPr>
        <p:spPr>
          <a:xfrm>
            <a:off x="870341" y="3635593"/>
            <a:ext cx="1915718" cy="1427672"/>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48" name="Rectangle : coins arrondis 47">
            <a:extLst>
              <a:ext uri="{FF2B5EF4-FFF2-40B4-BE49-F238E27FC236}">
                <a16:creationId xmlns:a16="http://schemas.microsoft.com/office/drawing/2014/main" id="{A235387B-EBEC-13B3-FA7A-6810E74597B1}"/>
              </a:ext>
            </a:extLst>
          </p:cNvPr>
          <p:cNvSpPr>
            <a:spLocks noGrp="1" noRot="1" noMove="1" noResize="1" noEditPoints="1" noAdjustHandles="1" noChangeArrowheads="1" noChangeShapeType="1"/>
          </p:cNvSpPr>
          <p:nvPr userDrawn="1"/>
        </p:nvSpPr>
        <p:spPr>
          <a:xfrm>
            <a:off x="2979173" y="1798535"/>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Mardi</a:t>
            </a:r>
            <a:endParaRPr lang="fr-FR" dirty="0">
              <a:latin typeface="Montserrat" pitchFamily="2" charset="0"/>
            </a:endParaRPr>
          </a:p>
        </p:txBody>
      </p:sp>
      <p:sp>
        <p:nvSpPr>
          <p:cNvPr id="49" name="Rectangle : coins arrondis 48">
            <a:extLst>
              <a:ext uri="{FF2B5EF4-FFF2-40B4-BE49-F238E27FC236}">
                <a16:creationId xmlns:a16="http://schemas.microsoft.com/office/drawing/2014/main" id="{B30F33B6-D16F-1ACD-AA79-EB3475364B83}"/>
              </a:ext>
            </a:extLst>
          </p:cNvPr>
          <p:cNvSpPr>
            <a:spLocks noGrp="1" noRot="1" noMove="1" noResize="1" noEditPoints="1" noAdjustHandles="1" noChangeArrowheads="1" noChangeShapeType="1"/>
          </p:cNvSpPr>
          <p:nvPr userDrawn="1"/>
        </p:nvSpPr>
        <p:spPr>
          <a:xfrm>
            <a:off x="3011314"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space réservé du contenu 2">
            <a:extLst>
              <a:ext uri="{FF2B5EF4-FFF2-40B4-BE49-F238E27FC236}">
                <a16:creationId xmlns:a16="http://schemas.microsoft.com/office/drawing/2014/main" id="{CA5603C8-DAE7-A421-8D36-360B1500CC35}"/>
              </a:ext>
            </a:extLst>
          </p:cNvPr>
          <p:cNvSpPr>
            <a:spLocks noGrp="1" noRot="1" noMove="1" noResize="1" noEditPoints="1" noAdjustHandles="1" noChangeArrowheads="1" noChangeShapeType="1"/>
          </p:cNvSpPr>
          <p:nvPr>
            <p:ph idx="19"/>
          </p:nvPr>
        </p:nvSpPr>
        <p:spPr>
          <a:xfrm>
            <a:off x="3011314" y="2120223"/>
            <a:ext cx="1915718" cy="1427672"/>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51" name="Rectangle : coins arrondis 50">
            <a:extLst>
              <a:ext uri="{FF2B5EF4-FFF2-40B4-BE49-F238E27FC236}">
                <a16:creationId xmlns:a16="http://schemas.microsoft.com/office/drawing/2014/main" id="{71940A5C-CD0D-2A7D-6650-3F0A5FC89CC5}"/>
              </a:ext>
            </a:extLst>
          </p:cNvPr>
          <p:cNvSpPr>
            <a:spLocks noGrp="1" noRot="1" noMove="1" noResize="1" noEditPoints="1" noAdjustHandles="1" noChangeArrowheads="1" noChangeShapeType="1"/>
          </p:cNvSpPr>
          <p:nvPr userDrawn="1"/>
        </p:nvSpPr>
        <p:spPr>
          <a:xfrm>
            <a:off x="3011314"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Espace réservé du contenu 2">
            <a:extLst>
              <a:ext uri="{FF2B5EF4-FFF2-40B4-BE49-F238E27FC236}">
                <a16:creationId xmlns:a16="http://schemas.microsoft.com/office/drawing/2014/main" id="{83C86029-B457-A1FC-4943-D662750F1511}"/>
              </a:ext>
            </a:extLst>
          </p:cNvPr>
          <p:cNvSpPr>
            <a:spLocks noGrp="1" noRot="1" noMove="1" noResize="1" noEditPoints="1" noAdjustHandles="1" noChangeArrowheads="1" noChangeShapeType="1"/>
          </p:cNvSpPr>
          <p:nvPr>
            <p:ph idx="20"/>
          </p:nvPr>
        </p:nvSpPr>
        <p:spPr>
          <a:xfrm>
            <a:off x="3011314" y="3635593"/>
            <a:ext cx="1915718" cy="1427672"/>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53" name="Rectangle : coins arrondis 52">
            <a:extLst>
              <a:ext uri="{FF2B5EF4-FFF2-40B4-BE49-F238E27FC236}">
                <a16:creationId xmlns:a16="http://schemas.microsoft.com/office/drawing/2014/main" id="{AFD9714F-052C-D8CF-1461-F64D65804BA6}"/>
              </a:ext>
            </a:extLst>
          </p:cNvPr>
          <p:cNvSpPr>
            <a:spLocks noGrp="1" noRot="1" noMove="1" noResize="1" noEditPoints="1" noAdjustHandles="1" noChangeArrowheads="1" noChangeShapeType="1"/>
          </p:cNvSpPr>
          <p:nvPr userDrawn="1"/>
        </p:nvSpPr>
        <p:spPr>
          <a:xfrm>
            <a:off x="5096754" y="1798535"/>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Mercredi</a:t>
            </a:r>
            <a:endParaRPr lang="fr-FR" dirty="0">
              <a:latin typeface="Montserrat" pitchFamily="2" charset="0"/>
            </a:endParaRPr>
          </a:p>
        </p:txBody>
      </p:sp>
      <p:sp>
        <p:nvSpPr>
          <p:cNvPr id="54" name="Rectangle : coins arrondis 53">
            <a:extLst>
              <a:ext uri="{FF2B5EF4-FFF2-40B4-BE49-F238E27FC236}">
                <a16:creationId xmlns:a16="http://schemas.microsoft.com/office/drawing/2014/main" id="{A5D4637C-C59F-51DE-B978-033BB68F0AF7}"/>
              </a:ext>
            </a:extLst>
          </p:cNvPr>
          <p:cNvSpPr>
            <a:spLocks noGrp="1" noRot="1" noMove="1" noResize="1" noEditPoints="1" noAdjustHandles="1" noChangeArrowheads="1" noChangeShapeType="1"/>
          </p:cNvSpPr>
          <p:nvPr userDrawn="1"/>
        </p:nvSpPr>
        <p:spPr>
          <a:xfrm>
            <a:off x="5128895"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Espace réservé du contenu 2">
            <a:extLst>
              <a:ext uri="{FF2B5EF4-FFF2-40B4-BE49-F238E27FC236}">
                <a16:creationId xmlns:a16="http://schemas.microsoft.com/office/drawing/2014/main" id="{6A814CB7-AD64-541C-7F0C-9A7370C38BE3}"/>
              </a:ext>
            </a:extLst>
          </p:cNvPr>
          <p:cNvSpPr>
            <a:spLocks noGrp="1" noRot="1" noMove="1" noResize="1" noEditPoints="1" noAdjustHandles="1" noChangeArrowheads="1" noChangeShapeType="1"/>
          </p:cNvSpPr>
          <p:nvPr>
            <p:ph idx="21"/>
          </p:nvPr>
        </p:nvSpPr>
        <p:spPr>
          <a:xfrm>
            <a:off x="5128895" y="2120223"/>
            <a:ext cx="1915718" cy="1427672"/>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56" name="Rectangle : coins arrondis 55">
            <a:extLst>
              <a:ext uri="{FF2B5EF4-FFF2-40B4-BE49-F238E27FC236}">
                <a16:creationId xmlns:a16="http://schemas.microsoft.com/office/drawing/2014/main" id="{4376143E-A380-E7DA-0E69-1D2729DACC08}"/>
              </a:ext>
            </a:extLst>
          </p:cNvPr>
          <p:cNvSpPr>
            <a:spLocks noGrp="1" noRot="1" noMove="1" noResize="1" noEditPoints="1" noAdjustHandles="1" noChangeArrowheads="1" noChangeShapeType="1"/>
          </p:cNvSpPr>
          <p:nvPr userDrawn="1"/>
        </p:nvSpPr>
        <p:spPr>
          <a:xfrm>
            <a:off x="5128895"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Espace réservé du contenu 2">
            <a:extLst>
              <a:ext uri="{FF2B5EF4-FFF2-40B4-BE49-F238E27FC236}">
                <a16:creationId xmlns:a16="http://schemas.microsoft.com/office/drawing/2014/main" id="{F3652B82-30AF-0673-5039-14E4BF3C3160}"/>
              </a:ext>
            </a:extLst>
          </p:cNvPr>
          <p:cNvSpPr>
            <a:spLocks noGrp="1" noRot="1" noMove="1" noResize="1" noEditPoints="1" noAdjustHandles="1" noChangeArrowheads="1" noChangeShapeType="1"/>
          </p:cNvSpPr>
          <p:nvPr>
            <p:ph idx="22"/>
          </p:nvPr>
        </p:nvSpPr>
        <p:spPr>
          <a:xfrm>
            <a:off x="5128895" y="3635593"/>
            <a:ext cx="1915718" cy="1427672"/>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58" name="Rectangle : coins arrondis 57">
            <a:extLst>
              <a:ext uri="{FF2B5EF4-FFF2-40B4-BE49-F238E27FC236}">
                <a16:creationId xmlns:a16="http://schemas.microsoft.com/office/drawing/2014/main" id="{ACAA90A8-0990-FCCE-8D33-D774ADA1D153}"/>
              </a:ext>
            </a:extLst>
          </p:cNvPr>
          <p:cNvSpPr>
            <a:spLocks noGrp="1" noRot="1" noMove="1" noResize="1" noEditPoints="1" noAdjustHandles="1" noChangeArrowheads="1" noChangeShapeType="1"/>
          </p:cNvSpPr>
          <p:nvPr userDrawn="1"/>
        </p:nvSpPr>
        <p:spPr>
          <a:xfrm>
            <a:off x="7232827" y="1784791"/>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Jeudi</a:t>
            </a:r>
            <a:endParaRPr lang="fr-FR" dirty="0">
              <a:latin typeface="Montserrat" pitchFamily="2" charset="0"/>
            </a:endParaRPr>
          </a:p>
        </p:txBody>
      </p:sp>
      <p:sp>
        <p:nvSpPr>
          <p:cNvPr id="59" name="Rectangle : coins arrondis 58">
            <a:extLst>
              <a:ext uri="{FF2B5EF4-FFF2-40B4-BE49-F238E27FC236}">
                <a16:creationId xmlns:a16="http://schemas.microsoft.com/office/drawing/2014/main" id="{7EC3B833-7E16-E16B-B72E-34821F6C86AC}"/>
              </a:ext>
            </a:extLst>
          </p:cNvPr>
          <p:cNvSpPr>
            <a:spLocks noGrp="1" noRot="1" noMove="1" noResize="1" noEditPoints="1" noAdjustHandles="1" noChangeArrowheads="1" noChangeShapeType="1"/>
          </p:cNvSpPr>
          <p:nvPr userDrawn="1"/>
        </p:nvSpPr>
        <p:spPr>
          <a:xfrm>
            <a:off x="7264968" y="210853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Espace réservé du contenu 2">
            <a:extLst>
              <a:ext uri="{FF2B5EF4-FFF2-40B4-BE49-F238E27FC236}">
                <a16:creationId xmlns:a16="http://schemas.microsoft.com/office/drawing/2014/main" id="{A5092395-C05F-67C1-E339-A4824755DCBA}"/>
              </a:ext>
            </a:extLst>
          </p:cNvPr>
          <p:cNvSpPr>
            <a:spLocks noGrp="1" noRot="1" noMove="1" noResize="1" noEditPoints="1" noAdjustHandles="1" noChangeArrowheads="1" noChangeShapeType="1"/>
          </p:cNvSpPr>
          <p:nvPr>
            <p:ph idx="23"/>
          </p:nvPr>
        </p:nvSpPr>
        <p:spPr>
          <a:xfrm>
            <a:off x="7264968" y="2106479"/>
            <a:ext cx="1915718" cy="1427672"/>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61" name="Rectangle : coins arrondis 60">
            <a:extLst>
              <a:ext uri="{FF2B5EF4-FFF2-40B4-BE49-F238E27FC236}">
                <a16:creationId xmlns:a16="http://schemas.microsoft.com/office/drawing/2014/main" id="{E8B58CAB-D50E-E957-8861-6D666079A5F2}"/>
              </a:ext>
            </a:extLst>
          </p:cNvPr>
          <p:cNvSpPr>
            <a:spLocks noGrp="1" noRot="1" noMove="1" noResize="1" noEditPoints="1" noAdjustHandles="1" noChangeArrowheads="1" noChangeShapeType="1"/>
          </p:cNvSpPr>
          <p:nvPr userDrawn="1"/>
        </p:nvSpPr>
        <p:spPr>
          <a:xfrm>
            <a:off x="7264968" y="362390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Espace réservé du contenu 2">
            <a:extLst>
              <a:ext uri="{FF2B5EF4-FFF2-40B4-BE49-F238E27FC236}">
                <a16:creationId xmlns:a16="http://schemas.microsoft.com/office/drawing/2014/main" id="{9E367BD0-4212-7965-EA60-18A7D2885AB0}"/>
              </a:ext>
            </a:extLst>
          </p:cNvPr>
          <p:cNvSpPr>
            <a:spLocks noGrp="1" noRot="1" noMove="1" noResize="1" noEditPoints="1" noAdjustHandles="1" noChangeArrowheads="1" noChangeShapeType="1"/>
          </p:cNvSpPr>
          <p:nvPr>
            <p:ph idx="24"/>
          </p:nvPr>
        </p:nvSpPr>
        <p:spPr>
          <a:xfrm>
            <a:off x="7264968" y="3621849"/>
            <a:ext cx="1915718" cy="1427672"/>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63" name="Rectangle : coins arrondis 62">
            <a:extLst>
              <a:ext uri="{FF2B5EF4-FFF2-40B4-BE49-F238E27FC236}">
                <a16:creationId xmlns:a16="http://schemas.microsoft.com/office/drawing/2014/main" id="{47696806-D597-E9C8-685C-FD4CA0F77261}"/>
              </a:ext>
            </a:extLst>
          </p:cNvPr>
          <p:cNvSpPr>
            <a:spLocks noGrp="1" noRot="1" noMove="1" noResize="1" noEditPoints="1" noAdjustHandles="1" noChangeArrowheads="1" noChangeShapeType="1"/>
          </p:cNvSpPr>
          <p:nvPr userDrawn="1"/>
        </p:nvSpPr>
        <p:spPr>
          <a:xfrm>
            <a:off x="9373800" y="1782902"/>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Vendredi</a:t>
            </a:r>
            <a:endParaRPr lang="fr-FR" dirty="0">
              <a:latin typeface="Montserrat" pitchFamily="2" charset="0"/>
            </a:endParaRPr>
          </a:p>
        </p:txBody>
      </p:sp>
      <p:sp>
        <p:nvSpPr>
          <p:cNvPr id="64" name="Rectangle : coins arrondis 63">
            <a:extLst>
              <a:ext uri="{FF2B5EF4-FFF2-40B4-BE49-F238E27FC236}">
                <a16:creationId xmlns:a16="http://schemas.microsoft.com/office/drawing/2014/main" id="{A6968603-52B3-F392-AE80-3C7E131C3AB1}"/>
              </a:ext>
            </a:extLst>
          </p:cNvPr>
          <p:cNvSpPr>
            <a:spLocks noGrp="1" noRot="1" noMove="1" noResize="1" noEditPoints="1" noAdjustHandles="1" noChangeArrowheads="1" noChangeShapeType="1"/>
          </p:cNvSpPr>
          <p:nvPr userDrawn="1"/>
        </p:nvSpPr>
        <p:spPr>
          <a:xfrm>
            <a:off x="9405941" y="210664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Espace réservé du contenu 2">
            <a:extLst>
              <a:ext uri="{FF2B5EF4-FFF2-40B4-BE49-F238E27FC236}">
                <a16:creationId xmlns:a16="http://schemas.microsoft.com/office/drawing/2014/main" id="{D77DFDF4-D0AC-A4DB-FF77-DE4701DDC544}"/>
              </a:ext>
            </a:extLst>
          </p:cNvPr>
          <p:cNvSpPr>
            <a:spLocks noGrp="1" noRot="1" noMove="1" noResize="1" noEditPoints="1" noAdjustHandles="1" noChangeArrowheads="1" noChangeShapeType="1"/>
          </p:cNvSpPr>
          <p:nvPr>
            <p:ph idx="25"/>
          </p:nvPr>
        </p:nvSpPr>
        <p:spPr>
          <a:xfrm>
            <a:off x="9405941" y="2104590"/>
            <a:ext cx="1915718" cy="1427672"/>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66" name="Rectangle : coins arrondis 65">
            <a:extLst>
              <a:ext uri="{FF2B5EF4-FFF2-40B4-BE49-F238E27FC236}">
                <a16:creationId xmlns:a16="http://schemas.microsoft.com/office/drawing/2014/main" id="{CD80C315-B569-DE7E-61FE-AE8AC39E73E0}"/>
              </a:ext>
            </a:extLst>
          </p:cNvPr>
          <p:cNvSpPr>
            <a:spLocks noGrp="1" noRot="1" noMove="1" noResize="1" noEditPoints="1" noAdjustHandles="1" noChangeArrowheads="1" noChangeShapeType="1"/>
          </p:cNvSpPr>
          <p:nvPr userDrawn="1"/>
        </p:nvSpPr>
        <p:spPr>
          <a:xfrm>
            <a:off x="9405941" y="362201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Espace réservé du contenu 2">
            <a:extLst>
              <a:ext uri="{FF2B5EF4-FFF2-40B4-BE49-F238E27FC236}">
                <a16:creationId xmlns:a16="http://schemas.microsoft.com/office/drawing/2014/main" id="{E63819FB-EA7E-003C-3A24-79A1E48DC848}"/>
              </a:ext>
            </a:extLst>
          </p:cNvPr>
          <p:cNvSpPr>
            <a:spLocks noGrp="1" noRot="1" noMove="1" noResize="1" noEditPoints="1" noAdjustHandles="1" noChangeArrowheads="1" noChangeShapeType="1"/>
          </p:cNvSpPr>
          <p:nvPr>
            <p:ph idx="26"/>
          </p:nvPr>
        </p:nvSpPr>
        <p:spPr>
          <a:xfrm>
            <a:off x="9405941" y="3619960"/>
            <a:ext cx="1915718" cy="1427672"/>
          </a:xfrm>
        </p:spPr>
        <p:txBody>
          <a:bodyPr>
            <a:normAutofit/>
          </a:bodyPr>
          <a:lstStyle>
            <a:lvl1pPr>
              <a:buNone/>
              <a:defRPr sz="1400">
                <a:solidFill>
                  <a:srgbClr val="261E48"/>
                </a:solidFill>
                <a:latin typeface="Montserrat" pitchFamily="2" charset="0"/>
              </a:defRPr>
            </a:lvl1pPr>
          </a:lstStyle>
          <a:p>
            <a:pPr lvl="0"/>
            <a:r>
              <a:rPr lang="fr-FR"/>
              <a:t>Cliquez pour modifier les styles du texte du masque</a:t>
            </a:r>
          </a:p>
        </p:txBody>
      </p:sp>
      <p:sp>
        <p:nvSpPr>
          <p:cNvPr id="75" name="Rectangle : coins arrondis 74">
            <a:extLst>
              <a:ext uri="{FF2B5EF4-FFF2-40B4-BE49-F238E27FC236}">
                <a16:creationId xmlns:a16="http://schemas.microsoft.com/office/drawing/2014/main" id="{506DBED5-7100-DD1F-CA6E-BDE84EA92CD7}"/>
              </a:ext>
            </a:extLst>
          </p:cNvPr>
          <p:cNvSpPr>
            <a:spLocks noGrp="1" noRot="1" noMove="1" noResize="1" noEditPoints="1" noAdjustHandles="1" noChangeArrowheads="1" noChangeShapeType="1"/>
          </p:cNvSpPr>
          <p:nvPr userDrawn="1"/>
        </p:nvSpPr>
        <p:spPr>
          <a:xfrm>
            <a:off x="838200" y="5280499"/>
            <a:ext cx="7772400" cy="900000"/>
          </a:xfrm>
          <a:prstGeom prst="roundRect">
            <a:avLst>
              <a:gd name="adj" fmla="val 8457"/>
            </a:avLst>
          </a:prstGeom>
          <a:solidFill>
            <a:srgbClr val="A1A6D4"/>
          </a:solidFill>
          <a:ln w="28575">
            <a:solidFill>
              <a:srgbClr val="261E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7" name="Espace réservé du texte 76">
            <a:extLst>
              <a:ext uri="{FF2B5EF4-FFF2-40B4-BE49-F238E27FC236}">
                <a16:creationId xmlns:a16="http://schemas.microsoft.com/office/drawing/2014/main" id="{9F80D05F-725A-9F28-6A53-F8C77669A4F8}"/>
              </a:ext>
            </a:extLst>
          </p:cNvPr>
          <p:cNvSpPr>
            <a:spLocks noGrp="1" noRot="1" noMove="1" noResize="1" noEditPoints="1" noAdjustHandles="1" noChangeArrowheads="1" noChangeShapeType="1"/>
          </p:cNvSpPr>
          <p:nvPr>
            <p:ph type="body" sz="quarter" idx="27"/>
          </p:nvPr>
        </p:nvSpPr>
        <p:spPr>
          <a:xfrm>
            <a:off x="838199" y="5294243"/>
            <a:ext cx="7772401" cy="882000"/>
          </a:xfrm>
        </p:spPr>
        <p:txBody>
          <a:bodyPr/>
          <a:lstStyle>
            <a:lvl1pPr>
              <a:defRPr>
                <a:solidFill>
                  <a:schemeClr val="bg1"/>
                </a:solidFill>
              </a:defRPr>
            </a:lvl1pPr>
          </a:lstStyle>
          <a:p>
            <a:pPr lvl="0"/>
            <a:r>
              <a:rPr lang="fr-FR"/>
              <a:t>Cliquez pour modifier les styles du texte du masque</a:t>
            </a:r>
          </a:p>
        </p:txBody>
      </p:sp>
    </p:spTree>
    <p:extLst>
      <p:ext uri="{BB962C8B-B14F-4D97-AF65-F5344CB8AC3E}">
        <p14:creationId xmlns:p14="http://schemas.microsoft.com/office/powerpoint/2010/main" val="20045091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4E6F3"/>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3D3D6A7-FF7B-B586-52F4-ADC35E546A5A}"/>
              </a:ext>
            </a:extLst>
          </p:cNvPr>
          <p:cNvSpPr>
            <a:spLocks noGrp="1" noRot="1" noMove="1" noResize="1" noEditPoints="1" noAdjustHandles="1" noChangeArrowheads="1" noChangeShapeType="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A54B397C-74AF-2BFD-A6A9-885AAD2770BA}"/>
              </a:ext>
            </a:extLst>
          </p:cNvPr>
          <p:cNvSpPr>
            <a:spLocks noGrp="1" noRot="1" noMove="1" noResize="1" noEditPoints="1" noAdjustHandles="1" noChangeArrowheads="1" noChangeShapeType="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Contenu texte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47940389-E416-64CF-697E-AB4C044EA43F}"/>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ontserrat" pitchFamily="2" charset="0"/>
              </a:defRPr>
            </a:lvl1pPr>
          </a:lstStyle>
          <a:p>
            <a:fld id="{065D9175-3EB5-4180-B9B2-2E197B3E8294}" type="datetime1">
              <a:rPr lang="fr-FR" smtClean="0"/>
              <a:t>12/08/2026</a:t>
            </a:fld>
            <a:endParaRPr lang="fr-FR" dirty="0">
              <a:latin typeface="Montserrat" pitchFamily="2" charset="0"/>
            </a:endParaRPr>
          </a:p>
        </p:txBody>
      </p:sp>
      <p:sp>
        <p:nvSpPr>
          <p:cNvPr id="5" name="Espace réservé du pied de page 4">
            <a:extLst>
              <a:ext uri="{FF2B5EF4-FFF2-40B4-BE49-F238E27FC236}">
                <a16:creationId xmlns:a16="http://schemas.microsoft.com/office/drawing/2014/main" id="{FEFA09F5-2C15-4D25-FEF0-FBA2BC2D2159}"/>
              </a:ext>
            </a:extLst>
          </p:cNvPr>
          <p:cNvSpPr>
            <a:spLocks noGrp="1" noRot="1" noMove="1" noResize="1" noEditPoints="1" noAdjustHandles="1" noChangeArrowheads="1" noChangeShapeType="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ontserrat" pitchFamily="2" charset="0"/>
              </a:defRPr>
            </a:lvl1pPr>
          </a:lstStyle>
          <a:p>
            <a:endParaRPr lang="fr-FR" dirty="0">
              <a:latin typeface="Montserrat" pitchFamily="2" charset="0"/>
            </a:endParaRPr>
          </a:p>
        </p:txBody>
      </p:sp>
      <p:sp>
        <p:nvSpPr>
          <p:cNvPr id="6" name="Espace réservé du numéro de diapositive 5">
            <a:extLst>
              <a:ext uri="{FF2B5EF4-FFF2-40B4-BE49-F238E27FC236}">
                <a16:creationId xmlns:a16="http://schemas.microsoft.com/office/drawing/2014/main" id="{4CC60F83-6957-0A97-A417-640079BD46EB}"/>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itchFamily="2" charset="0"/>
              </a:defRPr>
            </a:lvl1pPr>
          </a:lstStyle>
          <a:p>
            <a:fld id="{7AE2D55B-A4E3-4C84-95F3-069B4A0B514D}" type="slidenum">
              <a:rPr lang="fr-FR" smtClean="0"/>
              <a:pPr/>
              <a:t>‹N°›</a:t>
            </a:fld>
            <a:endParaRPr lang="fr-FR" dirty="0">
              <a:latin typeface="Montserrat" pitchFamily="2" charset="0"/>
            </a:endParaRPr>
          </a:p>
        </p:txBody>
      </p:sp>
    </p:spTree>
    <p:extLst>
      <p:ext uri="{BB962C8B-B14F-4D97-AF65-F5344CB8AC3E}">
        <p14:creationId xmlns:p14="http://schemas.microsoft.com/office/powerpoint/2010/main" val="3657416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1" r:id="rId3"/>
    <p:sldLayoutId id="2147483670" r:id="rId4"/>
    <p:sldLayoutId id="2147483672" r:id="rId5"/>
    <p:sldLayoutId id="2147483675" r:id="rId6"/>
    <p:sldLayoutId id="2147483653" r:id="rId7"/>
    <p:sldLayoutId id="2147483654" r:id="rId8"/>
    <p:sldLayoutId id="2147483676" r:id="rId9"/>
  </p:sldLayoutIdLst>
  <p:hf hdr="0" ftr="0" dt="0"/>
  <p:txStyles>
    <p:titleStyle>
      <a:lvl1pPr algn="l" defTabSz="914400" rtl="0" eaLnBrk="1" latinLnBrk="0" hangingPunct="1">
        <a:lnSpc>
          <a:spcPct val="90000"/>
        </a:lnSpc>
        <a:spcBef>
          <a:spcPct val="0"/>
        </a:spcBef>
        <a:buNone/>
        <a:defRPr sz="4400" kern="1200">
          <a:solidFill>
            <a:srgbClr val="261E48"/>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261E48"/>
          </a:solidFill>
          <a:latin typeface="Montserra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rgbClr val="261E48"/>
          </a:solidFill>
          <a:latin typeface="Monsterr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rgbClr val="261E48"/>
          </a:solidFill>
          <a:latin typeface="Monsterr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261E48"/>
          </a:solidFill>
          <a:latin typeface="Monsterra"/>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rgbClr val="261E48"/>
          </a:solidFill>
          <a:latin typeface="Monsterr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svg"/><Relationship Id="rId5" Type="http://schemas.openxmlformats.org/officeDocument/2006/relationships/image" Target="../media/image5.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0DBF0F-3F6A-8E28-0343-08824DE1DA9B}"/>
              </a:ext>
            </a:extLst>
          </p:cNvPr>
          <p:cNvSpPr>
            <a:spLocks noGrp="1" noRot="1" noMove="1" noResize="1" noEditPoints="1" noAdjustHandles="1" noChangeArrowheads="1" noChangeShapeType="1"/>
          </p:cNvSpPr>
          <p:nvPr>
            <p:ph type="ctrTitle"/>
          </p:nvPr>
        </p:nvSpPr>
        <p:spPr/>
        <p:txBody>
          <a:bodyPr/>
          <a:lstStyle/>
          <a:p>
            <a:r>
              <a:rPr lang="fr-FR" dirty="0"/>
              <a:t>WORKSHOP M1</a:t>
            </a:r>
            <a:br>
              <a:rPr lang="fr-FR" dirty="0"/>
            </a:br>
            <a:r>
              <a:rPr lang="fr-FR" dirty="0"/>
              <a:t>2026</a:t>
            </a:r>
          </a:p>
        </p:txBody>
      </p:sp>
      <p:sp>
        <p:nvSpPr>
          <p:cNvPr id="5" name="Sous-titre 4">
            <a:extLst>
              <a:ext uri="{FF2B5EF4-FFF2-40B4-BE49-F238E27FC236}">
                <a16:creationId xmlns:a16="http://schemas.microsoft.com/office/drawing/2014/main" id="{BA156C46-D9CF-FD86-3708-1CB341A28F4F}"/>
              </a:ext>
            </a:extLst>
          </p:cNvPr>
          <p:cNvSpPr>
            <a:spLocks noGrp="1" noRot="1" noMove="1" noResize="1" noEditPoints="1" noAdjustHandles="1" noChangeArrowheads="1" noChangeShapeType="1"/>
          </p:cNvSpPr>
          <p:nvPr>
            <p:ph type="subTitle" idx="1"/>
          </p:nvPr>
        </p:nvSpPr>
        <p:spPr/>
        <p:txBody>
          <a:bodyPr/>
          <a:lstStyle/>
          <a:p>
            <a:endParaRPr lang="fr-FR"/>
          </a:p>
        </p:txBody>
      </p:sp>
      <p:sp>
        <p:nvSpPr>
          <p:cNvPr id="6" name="Espace réservé du numéro de diapositive 5">
            <a:extLst>
              <a:ext uri="{FF2B5EF4-FFF2-40B4-BE49-F238E27FC236}">
                <a16:creationId xmlns:a16="http://schemas.microsoft.com/office/drawing/2014/main" id="{72023B38-A834-EB34-6E2C-CB1E2550E2F0}"/>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1</a:t>
            </a:fld>
            <a:endParaRPr lang="fr-FR"/>
          </a:p>
        </p:txBody>
      </p:sp>
    </p:spTree>
    <p:extLst>
      <p:ext uri="{BB962C8B-B14F-4D97-AF65-F5344CB8AC3E}">
        <p14:creationId xmlns:p14="http://schemas.microsoft.com/office/powerpoint/2010/main" val="3097663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03F20-0DE9-DFA9-837E-3B2CDDBED2D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AB00639-13DA-577A-0F1C-BE0E25805CD2}"/>
              </a:ext>
            </a:extLst>
          </p:cNvPr>
          <p:cNvSpPr>
            <a:spLocks noGrp="1" noRot="1" noMove="1" noResize="1" noEditPoints="1" noAdjustHandles="1" noChangeArrowheads="1" noChangeShapeType="1"/>
          </p:cNvSpPr>
          <p:nvPr>
            <p:ph type="ctrTitle"/>
          </p:nvPr>
        </p:nvSpPr>
        <p:spPr/>
        <p:txBody>
          <a:bodyPr/>
          <a:lstStyle/>
          <a:p>
            <a:r>
              <a:rPr lang="fr-FR" dirty="0"/>
              <a:t>WORKSHOP M1</a:t>
            </a:r>
            <a:br>
              <a:rPr lang="fr-FR" dirty="0"/>
            </a:br>
            <a:r>
              <a:rPr lang="fr-FR" dirty="0"/>
              <a:t>2026</a:t>
            </a:r>
          </a:p>
        </p:txBody>
      </p:sp>
      <p:sp>
        <p:nvSpPr>
          <p:cNvPr id="3" name="Sous-titre 2">
            <a:extLst>
              <a:ext uri="{FF2B5EF4-FFF2-40B4-BE49-F238E27FC236}">
                <a16:creationId xmlns:a16="http://schemas.microsoft.com/office/drawing/2014/main" id="{3C1C78B2-F215-2C1B-C474-95AE1D307050}"/>
              </a:ext>
            </a:extLst>
          </p:cNvPr>
          <p:cNvSpPr>
            <a:spLocks noGrp="1" noRot="1" noMove="1" noResize="1" noEditPoints="1" noAdjustHandles="1" noChangeArrowheads="1" noChangeShapeType="1"/>
          </p:cNvSpPr>
          <p:nvPr>
            <p:ph type="subTitle" idx="1"/>
          </p:nvPr>
        </p:nvSpPr>
        <p:spPr/>
        <p:txBody>
          <a:bodyPr/>
          <a:lstStyle/>
          <a:p>
            <a:r>
              <a:rPr lang="fr-FR" dirty="0">
                <a:latin typeface="Montserrat Bold" pitchFamily="2" charset="0"/>
              </a:rPr>
              <a:t>Mission Sentinel-X</a:t>
            </a:r>
          </a:p>
          <a:p>
            <a:r>
              <a:rPr lang="fr-FR" dirty="0"/>
              <a:t>Un système sécurisé à 100%. Ça n'existe pas. La vraie question : le vôtre tiendra-t-il jusqu'à vendredi ?</a:t>
            </a:r>
          </a:p>
        </p:txBody>
      </p:sp>
      <p:sp>
        <p:nvSpPr>
          <p:cNvPr id="4" name="Espace réservé du numéro de diapositive 3">
            <a:extLst>
              <a:ext uri="{FF2B5EF4-FFF2-40B4-BE49-F238E27FC236}">
                <a16:creationId xmlns:a16="http://schemas.microsoft.com/office/drawing/2014/main" id="{B0C6C312-30CF-2E6C-BA5C-6C97D93FA78E}"/>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2</a:t>
            </a:fld>
            <a:endParaRPr lang="fr-FR"/>
          </a:p>
        </p:txBody>
      </p:sp>
    </p:spTree>
    <p:extLst>
      <p:ext uri="{BB962C8B-B14F-4D97-AF65-F5344CB8AC3E}">
        <p14:creationId xmlns:p14="http://schemas.microsoft.com/office/powerpoint/2010/main" val="228308555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FAF0E9-4062-FB4D-E948-E6401C2EC91E}"/>
              </a:ext>
            </a:extLst>
          </p:cNvPr>
          <p:cNvSpPr>
            <a:spLocks noGrp="1" noRot="1" noMove="1" noResize="1" noEditPoints="1" noAdjustHandles="1" noChangeArrowheads="1" noChangeShapeType="1"/>
          </p:cNvSpPr>
          <p:nvPr>
            <p:ph type="title"/>
          </p:nvPr>
        </p:nvSpPr>
        <p:spPr/>
        <p:txBody>
          <a:bodyPr/>
          <a:lstStyle/>
          <a:p>
            <a:r>
              <a:rPr lang="fr-FR" dirty="0"/>
              <a:t>Le défi en un coup d'œil</a:t>
            </a:r>
          </a:p>
        </p:txBody>
      </p:sp>
      <p:sp>
        <p:nvSpPr>
          <p:cNvPr id="3" name="Espace réservé du numéro de diapositive 2">
            <a:extLst>
              <a:ext uri="{FF2B5EF4-FFF2-40B4-BE49-F238E27FC236}">
                <a16:creationId xmlns:a16="http://schemas.microsoft.com/office/drawing/2014/main" id="{FA6AA024-E6B2-BEE4-3EEC-27D00DD7BEDB}"/>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3</a:t>
            </a:fld>
            <a:endParaRPr lang="fr-FR"/>
          </a:p>
        </p:txBody>
      </p:sp>
      <p:sp>
        <p:nvSpPr>
          <p:cNvPr id="4" name="Sous-titre 3">
            <a:extLst>
              <a:ext uri="{FF2B5EF4-FFF2-40B4-BE49-F238E27FC236}">
                <a16:creationId xmlns:a16="http://schemas.microsoft.com/office/drawing/2014/main" id="{14F5CAE6-10DE-FAD6-905E-A5C7CE4DC743}"/>
              </a:ext>
            </a:extLst>
          </p:cNvPr>
          <p:cNvSpPr>
            <a:spLocks noGrp="1" noRot="1" noMove="1" noResize="1" noEditPoints="1" noAdjustHandles="1" noChangeArrowheads="1" noChangeShapeType="1"/>
          </p:cNvSpPr>
          <p:nvPr>
            <p:ph type="subTitle" idx="13"/>
          </p:nvPr>
        </p:nvSpPr>
        <p:spPr/>
        <p:txBody>
          <a:bodyPr>
            <a:normAutofit lnSpcReduction="10000"/>
          </a:bodyPr>
          <a:lstStyle/>
          <a:p>
            <a:endParaRPr lang="fr-FR" dirty="0"/>
          </a:p>
        </p:txBody>
      </p:sp>
      <p:sp>
        <p:nvSpPr>
          <p:cNvPr id="5" name="Espace réservé du contenu 4">
            <a:extLst>
              <a:ext uri="{FF2B5EF4-FFF2-40B4-BE49-F238E27FC236}">
                <a16:creationId xmlns:a16="http://schemas.microsoft.com/office/drawing/2014/main" id="{D6D1D996-AF78-2E33-4D03-879719943FD6}"/>
              </a:ext>
            </a:extLst>
          </p:cNvPr>
          <p:cNvSpPr>
            <a:spLocks noGrp="1" noRot="1" noMove="1" noResize="1" noEditPoints="1" noAdjustHandles="1" noChangeArrowheads="1" noChangeShapeType="1"/>
          </p:cNvSpPr>
          <p:nvPr>
            <p:ph idx="15"/>
          </p:nvPr>
        </p:nvSpPr>
        <p:spPr/>
        <p:txBody>
          <a:bodyPr>
            <a:normAutofit fontScale="85000" lnSpcReduction="10000"/>
          </a:bodyPr>
          <a:lstStyle/>
          <a:p>
            <a:pPr marL="342900" indent="-342900">
              <a:buFont typeface="+mj-lt"/>
              <a:buAutoNum type="alphaUcPeriod"/>
            </a:pPr>
            <a:r>
              <a:rPr lang="fr-FR" dirty="0">
                <a:latin typeface="Montserrat Bold" pitchFamily="2" charset="0"/>
              </a:rPr>
              <a:t>Contexte</a:t>
            </a:r>
          </a:p>
          <a:p>
            <a:r>
              <a:rPr lang="fr-FR" dirty="0"/>
              <a:t>Nous sommes en 2050. </a:t>
            </a:r>
            <a:r>
              <a:rPr lang="fr-FR" dirty="0" err="1"/>
              <a:t>AetherCorp</a:t>
            </a:r>
            <a:r>
              <a:rPr lang="fr-FR" dirty="0"/>
              <a:t> </a:t>
            </a:r>
            <a:r>
              <a:rPr lang="fr-FR" dirty="0" err="1"/>
              <a:t>Industrial</a:t>
            </a:r>
            <a:r>
              <a:rPr lang="fr-FR" dirty="0"/>
              <a:t> Solutions déploie des </a:t>
            </a:r>
            <a:r>
              <a:rPr lang="fr-FR" dirty="0" err="1"/>
              <a:t>micro-centrales</a:t>
            </a:r>
            <a:r>
              <a:rPr lang="fr-FR" dirty="0"/>
              <a:t> énergétiques dans des zones isolées et fait face à une vague d'attaques coordonnées : cyber, physiques, environnementales. Votre mission : concevoir Sentinel-X, un boîtier de surveillance autonome capable de détecter la menace avant qu'elle ne frappe.</a:t>
            </a:r>
          </a:p>
          <a:p>
            <a:pPr marL="342900" indent="-342900">
              <a:buFont typeface="+mj-lt"/>
              <a:buAutoNum type="alphaUcPeriod" startAt="2"/>
            </a:pPr>
            <a:r>
              <a:rPr lang="fr-FR" dirty="0">
                <a:latin typeface="Montserrat Bold" pitchFamily="2" charset="0"/>
              </a:rPr>
              <a:t>Le défi</a:t>
            </a:r>
          </a:p>
          <a:p>
            <a:pPr marL="285750" lvl="0" indent="-285750">
              <a:buFont typeface="Arial" panose="020B0604020202020204" pitchFamily="34" charset="0"/>
              <a:buChar char="•"/>
            </a:pPr>
            <a:r>
              <a:rPr lang="fr-FR" dirty="0"/>
              <a:t>Boîtier ESP8266 autonome (Edge Node) + capteurs température/gaz/présence</a:t>
            </a:r>
          </a:p>
          <a:p>
            <a:pPr marL="285750" lvl="0" indent="-285750">
              <a:buFont typeface="Arial" panose="020B0604020202020204" pitchFamily="34" charset="0"/>
              <a:buChar char="•"/>
            </a:pPr>
            <a:r>
              <a:rPr lang="fr-FR" dirty="0"/>
              <a:t>Connexion sans fil vers un PC Serveur Local (Raspberry Pi ou PC portable choix à faire dès lundi)</a:t>
            </a:r>
          </a:p>
          <a:p>
            <a:pPr marL="285750" lvl="0" indent="-285750">
              <a:buFont typeface="Arial" panose="020B0604020202020204" pitchFamily="34" charset="0"/>
              <a:buChar char="•"/>
            </a:pPr>
            <a:r>
              <a:rPr lang="fr-FR" dirty="0"/>
              <a:t>IA embarquée : détection d'intrus par vision en temps réel (webcam) + détection prédictive d'anomalies (température/gaz), pas de simples seuils fixes</a:t>
            </a:r>
          </a:p>
          <a:p>
            <a:pPr marL="285750" lvl="0" indent="-285750">
              <a:buFont typeface="Arial" panose="020B0604020202020204" pitchFamily="34" charset="0"/>
              <a:buChar char="•"/>
            </a:pPr>
            <a:r>
              <a:rPr lang="fr-FR" dirty="0"/>
              <a:t>4 briques à interconnecter : IoT, IA, Infra, Cybersécurité</a:t>
            </a:r>
          </a:p>
          <a:p>
            <a:pPr lvl="0"/>
            <a:r>
              <a:rPr lang="fr-FR" dirty="0">
                <a:latin typeface="Montserrat Bold" pitchFamily="2" charset="0"/>
              </a:rPr>
              <a:t>Interconnexion complète des 4 blocs = prérequis éliminatoire pour valider la démo finale</a:t>
            </a:r>
          </a:p>
          <a:p>
            <a:endParaRPr lang="fr-FR" dirty="0"/>
          </a:p>
        </p:txBody>
      </p:sp>
      <p:pic>
        <p:nvPicPr>
          <p:cNvPr id="7" name="Espace réservé du contenu 6">
            <a:extLst>
              <a:ext uri="{FF2B5EF4-FFF2-40B4-BE49-F238E27FC236}">
                <a16:creationId xmlns:a16="http://schemas.microsoft.com/office/drawing/2014/main" id="{265DC3D8-8852-2DE3-A60C-B8784876CBC5}"/>
              </a:ext>
            </a:extLst>
          </p:cNvPr>
          <p:cNvPicPr>
            <a:picLocks noGrp="1" noChangeAspect="1"/>
          </p:cNvPicPr>
          <p:nvPr>
            <p:ph idx="16"/>
          </p:nvPr>
        </p:nvPicPr>
        <p:blipFill>
          <a:blip r:embed="rId3"/>
          <a:stretch>
            <a:fillRect/>
          </a:stretch>
        </p:blipFill>
        <p:spPr>
          <a:xfrm>
            <a:off x="6096000" y="2459259"/>
            <a:ext cx="5257800" cy="2870224"/>
          </a:xfrm>
          <a:prstGeom prst="rect">
            <a:avLst/>
          </a:prstGeom>
        </p:spPr>
      </p:pic>
    </p:spTree>
    <p:extLst>
      <p:ext uri="{BB962C8B-B14F-4D97-AF65-F5344CB8AC3E}">
        <p14:creationId xmlns:p14="http://schemas.microsoft.com/office/powerpoint/2010/main" val="2755797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5A774A-CA30-201E-D91B-C87E37FDFCB8}"/>
              </a:ext>
            </a:extLst>
          </p:cNvPr>
          <p:cNvSpPr>
            <a:spLocks noGrp="1"/>
          </p:cNvSpPr>
          <p:nvPr>
            <p:ph type="title"/>
          </p:nvPr>
        </p:nvSpPr>
        <p:spPr/>
        <p:txBody>
          <a:bodyPr/>
          <a:lstStyle/>
          <a:p>
            <a:r>
              <a:rPr lang="fr-FR" dirty="0"/>
              <a:t>Techniquement</a:t>
            </a:r>
          </a:p>
        </p:txBody>
      </p:sp>
      <p:sp>
        <p:nvSpPr>
          <p:cNvPr id="3" name="Espace réservé du numéro de diapositive 2">
            <a:extLst>
              <a:ext uri="{FF2B5EF4-FFF2-40B4-BE49-F238E27FC236}">
                <a16:creationId xmlns:a16="http://schemas.microsoft.com/office/drawing/2014/main" id="{E841D6AC-51ED-A113-09D3-A3BFE4484726}"/>
              </a:ext>
            </a:extLst>
          </p:cNvPr>
          <p:cNvSpPr>
            <a:spLocks noGrp="1"/>
          </p:cNvSpPr>
          <p:nvPr>
            <p:ph type="sldNum" sz="quarter" idx="12"/>
          </p:nvPr>
        </p:nvSpPr>
        <p:spPr/>
        <p:txBody>
          <a:bodyPr/>
          <a:lstStyle/>
          <a:p>
            <a:fld id="{7AE2D55B-A4E3-4C84-95F3-069B4A0B514D}" type="slidenum">
              <a:rPr lang="fr-FR" smtClean="0"/>
              <a:t>4</a:t>
            </a:fld>
            <a:endParaRPr lang="fr-FR"/>
          </a:p>
        </p:txBody>
      </p:sp>
      <p:sp>
        <p:nvSpPr>
          <p:cNvPr id="4" name="Sous-titre 3">
            <a:extLst>
              <a:ext uri="{FF2B5EF4-FFF2-40B4-BE49-F238E27FC236}">
                <a16:creationId xmlns:a16="http://schemas.microsoft.com/office/drawing/2014/main" id="{CCB72283-047E-AFE8-8409-DC6008F46B6C}"/>
              </a:ext>
            </a:extLst>
          </p:cNvPr>
          <p:cNvSpPr>
            <a:spLocks noGrp="1"/>
          </p:cNvSpPr>
          <p:nvPr>
            <p:ph type="subTitle" idx="13"/>
          </p:nvPr>
        </p:nvSpPr>
        <p:spPr/>
        <p:txBody>
          <a:bodyPr>
            <a:normAutofit lnSpcReduction="10000"/>
          </a:bodyPr>
          <a:lstStyle/>
          <a:p>
            <a:endParaRPr lang="fr-FR"/>
          </a:p>
        </p:txBody>
      </p:sp>
      <p:sp>
        <p:nvSpPr>
          <p:cNvPr id="5" name="Espace réservé du contenu 4">
            <a:extLst>
              <a:ext uri="{FF2B5EF4-FFF2-40B4-BE49-F238E27FC236}">
                <a16:creationId xmlns:a16="http://schemas.microsoft.com/office/drawing/2014/main" id="{EE06C83B-0369-0C34-D280-5267FD2B0719}"/>
              </a:ext>
            </a:extLst>
          </p:cNvPr>
          <p:cNvSpPr>
            <a:spLocks noGrp="1"/>
          </p:cNvSpPr>
          <p:nvPr>
            <p:ph idx="15"/>
          </p:nvPr>
        </p:nvSpPr>
        <p:spPr>
          <a:xfrm>
            <a:off x="838199" y="2133599"/>
            <a:ext cx="4680000" cy="4000501"/>
          </a:xfrm>
        </p:spPr>
        <p:txBody>
          <a:bodyPr>
            <a:normAutofit fontScale="92500" lnSpcReduction="10000"/>
          </a:bodyPr>
          <a:lstStyle/>
          <a:p>
            <a:r>
              <a:rPr lang="fr-FR" b="1" dirty="0"/>
              <a:t>Par filière :</a:t>
            </a:r>
            <a:endParaRPr lang="fr-FR" dirty="0"/>
          </a:p>
          <a:p>
            <a:pPr lvl="0"/>
            <a:r>
              <a:rPr lang="fr-FR" dirty="0"/>
              <a:t>DEV : C++ (Arduino/</a:t>
            </a:r>
            <a:r>
              <a:rPr lang="fr-FR" dirty="0" err="1"/>
              <a:t>PlatformIO</a:t>
            </a:r>
            <a:r>
              <a:rPr lang="fr-FR" dirty="0"/>
              <a:t>), API REST/</a:t>
            </a:r>
            <a:r>
              <a:rPr lang="fr-FR" dirty="0" err="1"/>
              <a:t>WebSocket</a:t>
            </a:r>
            <a:r>
              <a:rPr lang="fr-FR" dirty="0"/>
              <a:t> (Node.js, Python ou Go), Dashboard web (</a:t>
            </a:r>
            <a:r>
              <a:rPr lang="fr-FR" dirty="0" err="1"/>
              <a:t>React</a:t>
            </a:r>
            <a:r>
              <a:rPr lang="fr-FR" dirty="0"/>
              <a:t>/Vue/JS)</a:t>
            </a:r>
          </a:p>
          <a:p>
            <a:pPr lvl="0"/>
            <a:r>
              <a:rPr lang="fr-FR" dirty="0"/>
              <a:t>IA : Python, vision par ordinateur (YOLOv8-tiny/</a:t>
            </a:r>
            <a:r>
              <a:rPr lang="fr-FR" dirty="0" err="1"/>
              <a:t>OpenCV</a:t>
            </a:r>
            <a:r>
              <a:rPr lang="fr-FR" dirty="0"/>
              <a:t>), détection d'anomalies (Isolation Forest/Random Forest)</a:t>
            </a:r>
          </a:p>
          <a:p>
            <a:pPr lvl="0"/>
            <a:r>
              <a:rPr lang="fr-FR" dirty="0"/>
              <a:t>INFRA : Docker-Compose, base de données, Wi-Fi dédié + plan d'adressage IP</a:t>
            </a:r>
          </a:p>
          <a:p>
            <a:pPr lvl="0"/>
            <a:r>
              <a:rPr lang="fr-FR" dirty="0"/>
              <a:t>CYBER : chiffrement TLS/MQTTS, </a:t>
            </a:r>
            <a:r>
              <a:rPr lang="fr-FR" dirty="0" err="1"/>
              <a:t>hardening</a:t>
            </a:r>
            <a:r>
              <a:rPr lang="fr-FR" dirty="0"/>
              <a:t> système, outils d'audit (</a:t>
            </a:r>
            <a:r>
              <a:rPr lang="fr-FR" dirty="0" err="1"/>
              <a:t>Nmap</a:t>
            </a:r>
            <a:r>
              <a:rPr lang="fr-FR" dirty="0"/>
              <a:t>, Wireshark, </a:t>
            </a:r>
            <a:r>
              <a:rPr lang="fr-FR" dirty="0" err="1"/>
              <a:t>Metasploit</a:t>
            </a:r>
            <a:r>
              <a:rPr lang="fr-FR" dirty="0"/>
              <a:t>)</a:t>
            </a:r>
          </a:p>
          <a:p>
            <a:pPr lvl="0"/>
            <a:r>
              <a:rPr lang="fr-FR" dirty="0"/>
              <a:t>Fabrication : Fusion360 (CAO), impression 3D, découpe/gravure laser</a:t>
            </a:r>
          </a:p>
          <a:p>
            <a:pPr>
              <a:lnSpc>
                <a:spcPct val="110000"/>
              </a:lnSpc>
            </a:pPr>
            <a:r>
              <a:rPr lang="fr-FR" b="1" u="sng" dirty="0"/>
              <a:t>CHOISISSEZ VOTRE ARCHITECTURE DÈS AUJOURD’HUI</a:t>
            </a:r>
            <a:br>
              <a:rPr lang="fr-FR" b="1" dirty="0"/>
            </a:br>
            <a:r>
              <a:rPr lang="fr-FR" dirty="0"/>
              <a:t>Option A : Raspberry Pi 5 embarqué dans le boîtier</a:t>
            </a:r>
            <a:br>
              <a:rPr lang="fr-FR" dirty="0"/>
            </a:br>
            <a:r>
              <a:rPr lang="fr-FR" dirty="0"/>
              <a:t>Option B : PC portable d'un apprenant fait office de serveur</a:t>
            </a:r>
          </a:p>
          <a:p>
            <a:endParaRPr lang="fr-FR" dirty="0"/>
          </a:p>
        </p:txBody>
      </p:sp>
      <p:pic>
        <p:nvPicPr>
          <p:cNvPr id="8" name="Espace réservé du contenu 7">
            <a:extLst>
              <a:ext uri="{FF2B5EF4-FFF2-40B4-BE49-F238E27FC236}">
                <a16:creationId xmlns:a16="http://schemas.microsoft.com/office/drawing/2014/main" id="{9E357554-5020-802A-BB75-0EF408249E31}"/>
              </a:ext>
            </a:extLst>
          </p:cNvPr>
          <p:cNvPicPr>
            <a:picLocks noGrp="1" noChangeAspect="1"/>
          </p:cNvPicPr>
          <p:nvPr>
            <p:ph idx="16"/>
          </p:nvPr>
        </p:nvPicPr>
        <p:blipFill>
          <a:blip r:embed="rId2"/>
          <a:stretch>
            <a:fillRect/>
          </a:stretch>
        </p:blipFill>
        <p:spPr>
          <a:xfrm>
            <a:off x="6096000" y="2459259"/>
            <a:ext cx="5257800" cy="2870224"/>
          </a:xfrm>
          <a:prstGeom prst="rect">
            <a:avLst/>
          </a:prstGeom>
        </p:spPr>
      </p:pic>
    </p:spTree>
    <p:extLst>
      <p:ext uri="{BB962C8B-B14F-4D97-AF65-F5344CB8AC3E}">
        <p14:creationId xmlns:p14="http://schemas.microsoft.com/office/powerpoint/2010/main" val="2226739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EE0D2F-4691-3C12-B131-CB303BBBBBDC}"/>
              </a:ext>
            </a:extLst>
          </p:cNvPr>
          <p:cNvSpPr>
            <a:spLocks noGrp="1" noRot="1" noMove="1" noResize="1" noEditPoints="1" noAdjustHandles="1" noChangeArrowheads="1" noChangeShapeType="1"/>
          </p:cNvSpPr>
          <p:nvPr>
            <p:ph type="title"/>
          </p:nvPr>
        </p:nvSpPr>
        <p:spPr/>
        <p:txBody>
          <a:bodyPr/>
          <a:lstStyle/>
          <a:p>
            <a:r>
              <a:rPr lang="fr-FR" dirty="0"/>
              <a:t>Planning</a:t>
            </a:r>
          </a:p>
        </p:txBody>
      </p:sp>
      <p:sp>
        <p:nvSpPr>
          <p:cNvPr id="3" name="Espace réservé du numéro de diapositive 2">
            <a:extLst>
              <a:ext uri="{FF2B5EF4-FFF2-40B4-BE49-F238E27FC236}">
                <a16:creationId xmlns:a16="http://schemas.microsoft.com/office/drawing/2014/main" id="{9423E086-2E68-C9BB-C190-2DE0ABFBCD17}"/>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5</a:t>
            </a:fld>
            <a:endParaRPr lang="fr-FR"/>
          </a:p>
        </p:txBody>
      </p:sp>
      <p:sp>
        <p:nvSpPr>
          <p:cNvPr id="4" name="Espace réservé du contenu 3">
            <a:extLst>
              <a:ext uri="{FF2B5EF4-FFF2-40B4-BE49-F238E27FC236}">
                <a16:creationId xmlns:a16="http://schemas.microsoft.com/office/drawing/2014/main" id="{3321C2A3-DFB4-5504-7BFB-4D42BAB6D3D5}"/>
              </a:ext>
            </a:extLst>
          </p:cNvPr>
          <p:cNvSpPr>
            <a:spLocks noGrp="1" noRot="1" noMove="1" noResize="1" noEditPoints="1" noAdjustHandles="1" noChangeArrowheads="1" noChangeShapeType="1"/>
          </p:cNvSpPr>
          <p:nvPr>
            <p:ph idx="1"/>
          </p:nvPr>
        </p:nvSpPr>
        <p:spPr/>
        <p:txBody>
          <a:bodyPr anchor="ctr"/>
          <a:lstStyle/>
          <a:p>
            <a:pPr algn="ctr"/>
            <a:r>
              <a:rPr lang="fr-FR" dirty="0"/>
              <a:t>Présentation du sujet + création des équipes</a:t>
            </a:r>
          </a:p>
        </p:txBody>
      </p:sp>
      <p:sp>
        <p:nvSpPr>
          <p:cNvPr id="5" name="Espace réservé du contenu 4">
            <a:extLst>
              <a:ext uri="{FF2B5EF4-FFF2-40B4-BE49-F238E27FC236}">
                <a16:creationId xmlns:a16="http://schemas.microsoft.com/office/drawing/2014/main" id="{3FCD3A44-DACD-E4B9-3D98-455633D16618}"/>
              </a:ext>
            </a:extLst>
          </p:cNvPr>
          <p:cNvSpPr>
            <a:spLocks noGrp="1" noRot="1" noMove="1" noResize="1" noEditPoints="1" noAdjustHandles="1" noChangeArrowheads="1" noChangeShapeType="1"/>
          </p:cNvSpPr>
          <p:nvPr>
            <p:ph idx="18"/>
          </p:nvPr>
        </p:nvSpPr>
        <p:spPr/>
        <p:txBody>
          <a:bodyPr anchor="ctr"/>
          <a:lstStyle/>
          <a:p>
            <a:pPr algn="ctr"/>
            <a:r>
              <a:rPr lang="fr-FR" dirty="0"/>
              <a:t>Choix d'architecture (Option A/B) + validation des schémas réseau</a:t>
            </a:r>
          </a:p>
        </p:txBody>
      </p:sp>
      <p:sp>
        <p:nvSpPr>
          <p:cNvPr id="6" name="Espace réservé du contenu 5">
            <a:extLst>
              <a:ext uri="{FF2B5EF4-FFF2-40B4-BE49-F238E27FC236}">
                <a16:creationId xmlns:a16="http://schemas.microsoft.com/office/drawing/2014/main" id="{DA091022-C24B-294F-D15F-A9C442EF8DA0}"/>
              </a:ext>
            </a:extLst>
          </p:cNvPr>
          <p:cNvSpPr>
            <a:spLocks noGrp="1" noRot="1" noMove="1" noResize="1" noEditPoints="1" noAdjustHandles="1" noChangeArrowheads="1" noChangeShapeType="1"/>
          </p:cNvSpPr>
          <p:nvPr>
            <p:ph idx="19"/>
          </p:nvPr>
        </p:nvSpPr>
        <p:spPr/>
        <p:txBody>
          <a:bodyPr anchor="ctr"/>
          <a:lstStyle/>
          <a:p>
            <a:pPr algn="ctr"/>
            <a:r>
              <a:rPr lang="fr-FR" dirty="0"/>
              <a:t>Câblage + déploiement des conteneurs</a:t>
            </a:r>
          </a:p>
        </p:txBody>
      </p:sp>
      <p:sp>
        <p:nvSpPr>
          <p:cNvPr id="7" name="Espace réservé du contenu 6">
            <a:extLst>
              <a:ext uri="{FF2B5EF4-FFF2-40B4-BE49-F238E27FC236}">
                <a16:creationId xmlns:a16="http://schemas.microsoft.com/office/drawing/2014/main" id="{D2774A86-C453-9175-5F0D-40F49CC24E16}"/>
              </a:ext>
            </a:extLst>
          </p:cNvPr>
          <p:cNvSpPr>
            <a:spLocks noGrp="1" noRot="1" noMove="1" noResize="1" noEditPoints="1" noAdjustHandles="1" noChangeArrowheads="1" noChangeShapeType="1"/>
          </p:cNvSpPr>
          <p:nvPr>
            <p:ph idx="20"/>
          </p:nvPr>
        </p:nvSpPr>
        <p:spPr/>
        <p:txBody>
          <a:bodyPr anchor="ctr"/>
          <a:lstStyle/>
          <a:p>
            <a:pPr algn="ctr"/>
            <a:r>
              <a:rPr lang="fr-FR" dirty="0" err="1"/>
              <a:t>Firmware</a:t>
            </a:r>
            <a:r>
              <a:rPr lang="fr-FR" dirty="0"/>
              <a:t> ESP8266 + premiers modèles IA</a:t>
            </a:r>
          </a:p>
        </p:txBody>
      </p:sp>
      <p:sp>
        <p:nvSpPr>
          <p:cNvPr id="8" name="Espace réservé du contenu 7">
            <a:extLst>
              <a:ext uri="{FF2B5EF4-FFF2-40B4-BE49-F238E27FC236}">
                <a16:creationId xmlns:a16="http://schemas.microsoft.com/office/drawing/2014/main" id="{7B34F9A7-4AE3-D535-9E33-3776613E1E45}"/>
              </a:ext>
            </a:extLst>
          </p:cNvPr>
          <p:cNvSpPr>
            <a:spLocks noGrp="1" noRot="1" noMove="1" noResize="1" noEditPoints="1" noAdjustHandles="1" noChangeArrowheads="1" noChangeShapeType="1"/>
          </p:cNvSpPr>
          <p:nvPr>
            <p:ph idx="21"/>
          </p:nvPr>
        </p:nvSpPr>
        <p:spPr/>
        <p:txBody>
          <a:bodyPr anchor="ctr"/>
          <a:lstStyle/>
          <a:p>
            <a:pPr algn="ctr"/>
            <a:r>
              <a:rPr lang="fr-FR" dirty="0"/>
              <a:t>Intégration Globale (Edge-to-Server)</a:t>
            </a:r>
          </a:p>
        </p:txBody>
      </p:sp>
      <p:sp>
        <p:nvSpPr>
          <p:cNvPr id="9" name="Espace réservé du contenu 8">
            <a:extLst>
              <a:ext uri="{FF2B5EF4-FFF2-40B4-BE49-F238E27FC236}">
                <a16:creationId xmlns:a16="http://schemas.microsoft.com/office/drawing/2014/main" id="{4710A3BE-0086-75D0-9223-6700AE7662E4}"/>
              </a:ext>
            </a:extLst>
          </p:cNvPr>
          <p:cNvSpPr>
            <a:spLocks noGrp="1" noRot="1" noMove="1" noResize="1" noEditPoints="1" noAdjustHandles="1" noChangeArrowheads="1" noChangeShapeType="1"/>
          </p:cNvSpPr>
          <p:nvPr>
            <p:ph idx="22"/>
          </p:nvPr>
        </p:nvSpPr>
        <p:spPr/>
        <p:txBody>
          <a:bodyPr anchor="ctr"/>
          <a:lstStyle/>
          <a:p>
            <a:pPr algn="ctr"/>
            <a:r>
              <a:rPr lang="fr-FR" dirty="0"/>
              <a:t>Tournage du teaser « Sentinel Drop »</a:t>
            </a:r>
          </a:p>
        </p:txBody>
      </p:sp>
      <p:sp>
        <p:nvSpPr>
          <p:cNvPr id="10" name="Espace réservé du contenu 9">
            <a:extLst>
              <a:ext uri="{FF2B5EF4-FFF2-40B4-BE49-F238E27FC236}">
                <a16:creationId xmlns:a16="http://schemas.microsoft.com/office/drawing/2014/main" id="{4F2F4D84-4663-47B2-CC1B-A10E85341BE6}"/>
              </a:ext>
            </a:extLst>
          </p:cNvPr>
          <p:cNvSpPr>
            <a:spLocks noGrp="1" noRot="1" noMove="1" noResize="1" noEditPoints="1" noAdjustHandles="1" noChangeArrowheads="1" noChangeShapeType="1"/>
          </p:cNvSpPr>
          <p:nvPr>
            <p:ph idx="23"/>
          </p:nvPr>
        </p:nvSpPr>
        <p:spPr/>
        <p:txBody>
          <a:bodyPr anchor="ctr"/>
          <a:lstStyle/>
          <a:p>
            <a:pPr algn="ctr"/>
            <a:r>
              <a:rPr lang="fr-FR" dirty="0"/>
              <a:t>Finalisation du code</a:t>
            </a:r>
          </a:p>
        </p:txBody>
      </p:sp>
      <p:sp>
        <p:nvSpPr>
          <p:cNvPr id="11" name="Espace réservé du contenu 10">
            <a:extLst>
              <a:ext uri="{FF2B5EF4-FFF2-40B4-BE49-F238E27FC236}">
                <a16:creationId xmlns:a16="http://schemas.microsoft.com/office/drawing/2014/main" id="{76B41B33-422D-E0F9-A1C4-582420D50D60}"/>
              </a:ext>
            </a:extLst>
          </p:cNvPr>
          <p:cNvSpPr>
            <a:spLocks noGrp="1" noRot="1" noMove="1" noResize="1" noEditPoints="1" noAdjustHandles="1" noChangeArrowheads="1" noChangeShapeType="1"/>
          </p:cNvSpPr>
          <p:nvPr>
            <p:ph idx="24"/>
          </p:nvPr>
        </p:nvSpPr>
        <p:spPr/>
        <p:txBody>
          <a:bodyPr anchor="ctr"/>
          <a:lstStyle/>
          <a:p>
            <a:pPr algn="ctr"/>
            <a:r>
              <a:rPr lang="fr-FR" dirty="0" err="1"/>
              <a:t>Pentest</a:t>
            </a:r>
            <a:r>
              <a:rPr lang="fr-FR" dirty="0"/>
              <a:t> croisé entre équipes</a:t>
            </a:r>
          </a:p>
        </p:txBody>
      </p:sp>
      <p:sp>
        <p:nvSpPr>
          <p:cNvPr id="12" name="Espace réservé du contenu 11">
            <a:extLst>
              <a:ext uri="{FF2B5EF4-FFF2-40B4-BE49-F238E27FC236}">
                <a16:creationId xmlns:a16="http://schemas.microsoft.com/office/drawing/2014/main" id="{813A1F49-3D22-AEAE-8F11-CB4F30603226}"/>
              </a:ext>
            </a:extLst>
          </p:cNvPr>
          <p:cNvSpPr>
            <a:spLocks noGrp="1" noRot="1" noMove="1" noResize="1" noEditPoints="1" noAdjustHandles="1" noChangeArrowheads="1" noChangeShapeType="1"/>
          </p:cNvSpPr>
          <p:nvPr>
            <p:ph idx="25"/>
          </p:nvPr>
        </p:nvSpPr>
        <p:spPr/>
        <p:txBody>
          <a:bodyPr anchor="ctr"/>
          <a:lstStyle/>
          <a:p>
            <a:pPr algn="ctr"/>
            <a:r>
              <a:rPr lang="fr-FR" dirty="0"/>
              <a:t>Soutenance locale</a:t>
            </a:r>
          </a:p>
        </p:txBody>
      </p:sp>
      <p:sp>
        <p:nvSpPr>
          <p:cNvPr id="13" name="Espace réservé du contenu 12">
            <a:extLst>
              <a:ext uri="{FF2B5EF4-FFF2-40B4-BE49-F238E27FC236}">
                <a16:creationId xmlns:a16="http://schemas.microsoft.com/office/drawing/2014/main" id="{75982571-AABF-E6D2-64F4-C53DB715F3C8}"/>
              </a:ext>
            </a:extLst>
          </p:cNvPr>
          <p:cNvSpPr>
            <a:spLocks noGrp="1" noRot="1" noMove="1" noResize="1" noEditPoints="1" noAdjustHandles="1" noChangeArrowheads="1" noChangeShapeType="1"/>
          </p:cNvSpPr>
          <p:nvPr>
            <p:ph idx="26"/>
          </p:nvPr>
        </p:nvSpPr>
        <p:spPr/>
        <p:txBody>
          <a:bodyPr anchor="ctr"/>
          <a:lstStyle/>
          <a:p>
            <a:pPr algn="ctr"/>
            <a:r>
              <a:rPr lang="fr-FR" dirty="0"/>
              <a:t>Soutenance locale</a:t>
            </a:r>
          </a:p>
        </p:txBody>
      </p:sp>
      <p:sp>
        <p:nvSpPr>
          <p:cNvPr id="14" name="Espace réservé du texte 13">
            <a:extLst>
              <a:ext uri="{FF2B5EF4-FFF2-40B4-BE49-F238E27FC236}">
                <a16:creationId xmlns:a16="http://schemas.microsoft.com/office/drawing/2014/main" id="{64B4EA27-ABA3-50B4-017D-D6C0F453C450}"/>
              </a:ext>
            </a:extLst>
          </p:cNvPr>
          <p:cNvSpPr>
            <a:spLocks noGrp="1" noRot="1" noMove="1" noResize="1" noEditPoints="1" noAdjustHandles="1" noChangeArrowheads="1" noChangeShapeType="1"/>
          </p:cNvSpPr>
          <p:nvPr>
            <p:ph type="body" sz="quarter" idx="27"/>
          </p:nvPr>
        </p:nvSpPr>
        <p:spPr/>
        <p:txBody>
          <a:bodyPr>
            <a:normAutofit lnSpcReduction="10000"/>
          </a:bodyPr>
          <a:lstStyle/>
          <a:p>
            <a:pPr lvl="0">
              <a:lnSpc>
                <a:spcPct val="100000"/>
              </a:lnSpc>
              <a:spcBef>
                <a:spcPts val="0"/>
              </a:spcBef>
              <a:defRPr/>
            </a:pPr>
            <a:r>
              <a:rPr lang="fr-FR" dirty="0">
                <a:latin typeface="Montserrat Bold" pitchFamily="2" charset="0"/>
              </a:rPr>
              <a:t>Règles :</a:t>
            </a:r>
          </a:p>
          <a:p>
            <a:r>
              <a:rPr lang="fr-FR" dirty="0"/>
              <a:t>Émargement par </a:t>
            </a:r>
            <a:r>
              <a:rPr lang="fr-FR" dirty="0" err="1"/>
              <a:t>Edusign</a:t>
            </a:r>
            <a:r>
              <a:rPr lang="fr-FR" dirty="0"/>
              <a:t> / assiduité</a:t>
            </a:r>
          </a:p>
          <a:p>
            <a:r>
              <a:rPr lang="fr-FR" dirty="0"/>
              <a:t>Propreté des locaux mis à disposition</a:t>
            </a:r>
          </a:p>
          <a:p>
            <a:endParaRPr lang="fr-FR" dirty="0"/>
          </a:p>
        </p:txBody>
      </p:sp>
    </p:spTree>
    <p:extLst>
      <p:ext uri="{BB962C8B-B14F-4D97-AF65-F5344CB8AC3E}">
        <p14:creationId xmlns:p14="http://schemas.microsoft.com/office/powerpoint/2010/main" val="1829911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09EBA1-F143-065F-E848-49027520FC15}"/>
              </a:ext>
            </a:extLst>
          </p:cNvPr>
          <p:cNvSpPr>
            <a:spLocks noGrp="1" noRot="1" noMove="1" noResize="1" noEditPoints="1" noAdjustHandles="1" noChangeArrowheads="1" noChangeShapeType="1"/>
          </p:cNvSpPr>
          <p:nvPr>
            <p:ph type="title"/>
          </p:nvPr>
        </p:nvSpPr>
        <p:spPr/>
        <p:txBody>
          <a:bodyPr/>
          <a:lstStyle/>
          <a:p>
            <a:r>
              <a:rPr lang="fr-FR" dirty="0"/>
              <a:t>Livrable attendus</a:t>
            </a:r>
          </a:p>
        </p:txBody>
      </p:sp>
      <p:sp>
        <p:nvSpPr>
          <p:cNvPr id="3" name="Espace réservé du contenu 2">
            <a:extLst>
              <a:ext uri="{FF2B5EF4-FFF2-40B4-BE49-F238E27FC236}">
                <a16:creationId xmlns:a16="http://schemas.microsoft.com/office/drawing/2014/main" id="{A157F832-8530-1D91-78EB-DA474ADFFA47}"/>
              </a:ext>
            </a:extLst>
          </p:cNvPr>
          <p:cNvSpPr>
            <a:spLocks noGrp="1" noRot="1" noMove="1" noResize="1" noEditPoints="1" noAdjustHandles="1" noChangeArrowheads="1" noChangeShapeType="1"/>
          </p:cNvSpPr>
          <p:nvPr>
            <p:ph idx="1"/>
          </p:nvPr>
        </p:nvSpPr>
        <p:spPr/>
        <p:txBody>
          <a:bodyPr/>
          <a:lstStyle/>
          <a:p>
            <a:pPr marL="285750" indent="-285750">
              <a:buFont typeface="Wingdings" panose="05000000000000000000" pitchFamily="2" charset="2"/>
              <a:buChar char="q"/>
            </a:pPr>
            <a:endParaRPr lang="fr-FR" dirty="0"/>
          </a:p>
          <a:p>
            <a:pPr>
              <a:lnSpc>
                <a:spcPct val="100000"/>
              </a:lnSpc>
            </a:pPr>
            <a:endParaRPr lang="fr-FR" dirty="0"/>
          </a:p>
          <a:p>
            <a:pPr marL="285750" indent="-285750">
              <a:lnSpc>
                <a:spcPct val="150000"/>
              </a:lnSpc>
              <a:buFont typeface="Wingdings" panose="05000000000000000000" pitchFamily="2" charset="2"/>
              <a:buChar char="q"/>
            </a:pPr>
            <a:r>
              <a:rPr lang="fr-FR" sz="1800" dirty="0"/>
              <a:t>Rapport technique</a:t>
            </a:r>
          </a:p>
          <a:p>
            <a:pPr marL="285750" indent="-285750">
              <a:lnSpc>
                <a:spcPct val="150000"/>
              </a:lnSpc>
              <a:buFont typeface="Wingdings" panose="05000000000000000000" pitchFamily="2" charset="2"/>
              <a:buChar char="q"/>
            </a:pPr>
            <a:r>
              <a:rPr lang="fr-FR" sz="1800" dirty="0"/>
              <a:t>Vidéo « Sentinel Drop »</a:t>
            </a:r>
          </a:p>
          <a:p>
            <a:pPr marL="285750" indent="-285750">
              <a:lnSpc>
                <a:spcPct val="150000"/>
              </a:lnSpc>
              <a:buFont typeface="Wingdings" panose="05000000000000000000" pitchFamily="2" charset="2"/>
              <a:buChar char="q"/>
            </a:pPr>
            <a:r>
              <a:rPr lang="fr-FR" sz="1800" dirty="0"/>
              <a:t>Archive du code source</a:t>
            </a:r>
          </a:p>
          <a:p>
            <a:pPr marL="285750" indent="-285750">
              <a:lnSpc>
                <a:spcPct val="150000"/>
              </a:lnSpc>
              <a:buFont typeface="Wingdings" panose="05000000000000000000" pitchFamily="2" charset="2"/>
              <a:buChar char="q"/>
            </a:pPr>
            <a:r>
              <a:rPr lang="fr-FR" sz="1800" dirty="0"/>
              <a:t>Support de soutenance (PPTX)</a:t>
            </a:r>
          </a:p>
          <a:p>
            <a:pPr marL="285750" indent="-285750">
              <a:lnSpc>
                <a:spcPct val="150000"/>
              </a:lnSpc>
              <a:buFont typeface="Wingdings" panose="05000000000000000000" pitchFamily="2" charset="2"/>
              <a:buChar char="q"/>
            </a:pPr>
            <a:r>
              <a:rPr lang="fr-FR" sz="1800" dirty="0"/>
              <a:t>SENTINEL – X fonctionnel</a:t>
            </a:r>
          </a:p>
        </p:txBody>
      </p:sp>
      <p:sp>
        <p:nvSpPr>
          <p:cNvPr id="4" name="Espace réservé du numéro de diapositive 3">
            <a:extLst>
              <a:ext uri="{FF2B5EF4-FFF2-40B4-BE49-F238E27FC236}">
                <a16:creationId xmlns:a16="http://schemas.microsoft.com/office/drawing/2014/main" id="{B7464395-7713-B8DF-1466-90A12FF62B45}"/>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6</a:t>
            </a:fld>
            <a:endParaRPr lang="fr-FR"/>
          </a:p>
        </p:txBody>
      </p:sp>
    </p:spTree>
    <p:extLst>
      <p:ext uri="{BB962C8B-B14F-4D97-AF65-F5344CB8AC3E}">
        <p14:creationId xmlns:p14="http://schemas.microsoft.com/office/powerpoint/2010/main" val="807039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156443-818E-1EBE-EF4E-E5EE2E89369C}"/>
              </a:ext>
            </a:extLst>
          </p:cNvPr>
          <p:cNvSpPr>
            <a:spLocks noGrp="1" noRot="1" noMove="1" noResize="1" noEditPoints="1" noAdjustHandles="1" noChangeArrowheads="1" noChangeShapeType="1"/>
          </p:cNvSpPr>
          <p:nvPr>
            <p:ph type="title"/>
          </p:nvPr>
        </p:nvSpPr>
        <p:spPr/>
        <p:txBody>
          <a:bodyPr/>
          <a:lstStyle/>
          <a:p>
            <a:r>
              <a:rPr lang="fr-FR" dirty="0"/>
              <a:t>Les évaluations</a:t>
            </a:r>
          </a:p>
        </p:txBody>
      </p:sp>
      <p:sp>
        <p:nvSpPr>
          <p:cNvPr id="3" name="Sous-titre 2">
            <a:extLst>
              <a:ext uri="{FF2B5EF4-FFF2-40B4-BE49-F238E27FC236}">
                <a16:creationId xmlns:a16="http://schemas.microsoft.com/office/drawing/2014/main" id="{0EB50662-5959-3462-8BCB-2C956A3BF309}"/>
              </a:ext>
            </a:extLst>
          </p:cNvPr>
          <p:cNvSpPr>
            <a:spLocks noGrp="1" noRot="1" noMove="1" noResize="1" noEditPoints="1" noAdjustHandles="1" noChangeArrowheads="1" noChangeShapeType="1"/>
          </p:cNvSpPr>
          <p:nvPr>
            <p:ph type="subTitle" idx="13"/>
          </p:nvPr>
        </p:nvSpPr>
        <p:spPr/>
        <p:txBody>
          <a:bodyPr>
            <a:normAutofit fontScale="85000" lnSpcReduction="10000"/>
          </a:bodyPr>
          <a:lstStyle/>
          <a:p>
            <a:r>
              <a:rPr lang="fr-FR" dirty="0"/>
              <a:t>Deux grilles, deux moments : votre campus cette semaine, la France en fin de mois.</a:t>
            </a:r>
          </a:p>
        </p:txBody>
      </p:sp>
      <p:graphicFrame>
        <p:nvGraphicFramePr>
          <p:cNvPr id="7" name="Espace réservé du contenu 6">
            <a:extLst>
              <a:ext uri="{FF2B5EF4-FFF2-40B4-BE49-F238E27FC236}">
                <a16:creationId xmlns:a16="http://schemas.microsoft.com/office/drawing/2014/main" id="{69EF8287-8685-B6B3-76C1-A13696A96724}"/>
              </a:ext>
            </a:extLst>
          </p:cNvPr>
          <p:cNvGraphicFramePr>
            <a:graphicFrameLocks noGrp="1"/>
          </p:cNvGraphicFramePr>
          <p:nvPr>
            <p:ph idx="15"/>
            <p:extLst>
              <p:ext uri="{D42A27DB-BD31-4B8C-83A1-F6EECF244321}">
                <p14:modId xmlns:p14="http://schemas.microsoft.com/office/powerpoint/2010/main" val="2846540875"/>
              </p:ext>
            </p:extLst>
          </p:nvPr>
        </p:nvGraphicFramePr>
        <p:xfrm>
          <a:off x="838200" y="2133600"/>
          <a:ext cx="4679949" cy="3845560"/>
        </p:xfrm>
        <a:graphic>
          <a:graphicData uri="http://schemas.openxmlformats.org/drawingml/2006/table">
            <a:tbl>
              <a:tblPr firstRow="1" bandRow="1">
                <a:tableStyleId>{5C22544A-7EE6-4342-B048-85BDC9FD1C3A}</a:tableStyleId>
              </a:tblPr>
              <a:tblGrid>
                <a:gridCol w="1562100">
                  <a:extLst>
                    <a:ext uri="{9D8B030D-6E8A-4147-A177-3AD203B41FA5}">
                      <a16:colId xmlns:a16="http://schemas.microsoft.com/office/drawing/2014/main" val="251856527"/>
                    </a:ext>
                  </a:extLst>
                </a:gridCol>
                <a:gridCol w="714375">
                  <a:extLst>
                    <a:ext uri="{9D8B030D-6E8A-4147-A177-3AD203B41FA5}">
                      <a16:colId xmlns:a16="http://schemas.microsoft.com/office/drawing/2014/main" val="2033750503"/>
                    </a:ext>
                  </a:extLst>
                </a:gridCol>
                <a:gridCol w="2403474">
                  <a:extLst>
                    <a:ext uri="{9D8B030D-6E8A-4147-A177-3AD203B41FA5}">
                      <a16:colId xmlns:a16="http://schemas.microsoft.com/office/drawing/2014/main" val="265508247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i="0" u="none" strike="noStrike" kern="1200" baseline="0" dirty="0">
                          <a:solidFill>
                            <a:schemeClr val="lt1"/>
                          </a:solidFill>
                          <a:latin typeface="Montserrat Bold" pitchFamily="2" charset="0"/>
                          <a:ea typeface="+mn-ea"/>
                          <a:cs typeface="+mn-cs"/>
                        </a:rPr>
                        <a:t>AXE MAJEUR DE SOUTENANCE</a:t>
                      </a:r>
                      <a:r>
                        <a:rPr lang="fr-FR" sz="900" b="0" i="0" u="none" strike="noStrike" kern="1200" baseline="0" dirty="0">
                          <a:solidFill>
                            <a:schemeClr val="lt1"/>
                          </a:solidFill>
                          <a:latin typeface="Montserrat Bold" pitchFamily="2" charset="0"/>
                          <a:ea typeface="+mn-ea"/>
                          <a:cs typeface="+mn-cs"/>
                        </a:rPr>
                        <a:t>	</a:t>
                      </a:r>
                    </a:p>
                  </a:txBody>
                  <a:tcPr anchor="ctr">
                    <a:solidFill>
                      <a:srgbClr val="261E4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0" u="none" strike="noStrike" kern="1200" baseline="0" dirty="0">
                          <a:solidFill>
                            <a:schemeClr val="lt1"/>
                          </a:solidFill>
                          <a:latin typeface="Montserrat Bold" pitchFamily="2" charset="0"/>
                          <a:ea typeface="+mn-ea"/>
                          <a:cs typeface="+mn-cs"/>
                        </a:rPr>
                        <a:t>POINTS </a:t>
                      </a:r>
                      <a:endParaRPr lang="fr-FR" sz="900" b="0" i="0" u="none" strike="noStrike" kern="1200" baseline="0" dirty="0">
                        <a:solidFill>
                          <a:schemeClr val="lt1"/>
                        </a:solidFill>
                        <a:latin typeface="Montserrat Bold" pitchFamily="2" charset="0"/>
                        <a:ea typeface="+mn-ea"/>
                        <a:cs typeface="+mn-cs"/>
                      </a:endParaRPr>
                    </a:p>
                  </a:txBody>
                  <a:tcPr anchor="ctr">
                    <a:solidFill>
                      <a:srgbClr val="261E4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i="0" u="none" strike="noStrike" kern="1200" baseline="0" dirty="0">
                          <a:solidFill>
                            <a:schemeClr val="lt1"/>
                          </a:solidFill>
                          <a:latin typeface="Montserrat Bold" pitchFamily="2" charset="0"/>
                          <a:ea typeface="+mn-ea"/>
                          <a:cs typeface="+mn-cs"/>
                        </a:rPr>
                        <a:t>INDICATEURS D'EXCELLENCE ATTENDUS PAR LE JURY LOCAL</a:t>
                      </a:r>
                      <a:endParaRPr lang="fr-FR" sz="900" b="0" i="0" u="none" strike="noStrike" kern="1200" baseline="0" dirty="0">
                        <a:solidFill>
                          <a:schemeClr val="lt1"/>
                        </a:solidFill>
                        <a:latin typeface="Montserrat Bold" pitchFamily="2" charset="0"/>
                        <a:ea typeface="+mn-ea"/>
                        <a:cs typeface="+mn-cs"/>
                      </a:endParaRPr>
                    </a:p>
                  </a:txBody>
                  <a:tcPr anchor="ctr">
                    <a:solidFill>
                      <a:srgbClr val="261E48"/>
                    </a:solidFill>
                  </a:tcPr>
                </a:tc>
                <a:extLst>
                  <a:ext uri="{0D108BD9-81ED-4DB2-BD59-A6C34878D82A}">
                    <a16:rowId xmlns:a16="http://schemas.microsoft.com/office/drawing/2014/main" val="1198234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i="0" u="none" strike="noStrike" kern="1200" baseline="0" dirty="0">
                          <a:solidFill>
                            <a:schemeClr val="dk1"/>
                          </a:solidFill>
                          <a:latin typeface="Montserrat" pitchFamily="2" charset="0"/>
                          <a:ea typeface="+mn-ea"/>
                          <a:cs typeface="+mn-cs"/>
                        </a:rPr>
                        <a:t>Axe 1 : Démo Live &amp; Intégration Globale</a:t>
                      </a:r>
                      <a:endParaRPr lang="fr-FR" sz="900" b="0" i="0" u="none" strike="noStrike" kern="1200" baseline="0" dirty="0">
                        <a:solidFill>
                          <a:schemeClr val="dk1"/>
                        </a:solidFill>
                        <a:latin typeface="Montserrat" pitchFamily="2" charset="0"/>
                        <a:ea typeface="+mn-ea"/>
                        <a:cs typeface="+mn-cs"/>
                      </a:endParaRPr>
                    </a:p>
                  </a:txBody>
                  <a:tcPr anchor="ctr">
                    <a:solidFill>
                      <a:srgbClr val="A1A6D4"/>
                    </a:solidFill>
                  </a:tcPr>
                </a:tc>
                <a:tc>
                  <a:txBody>
                    <a:bodyPr/>
                    <a:lstStyle/>
                    <a:p>
                      <a:pPr algn="ctr"/>
                      <a:r>
                        <a:rPr lang="fr-FR" sz="900" b="0" i="0" u="none" strike="noStrike" kern="1200" baseline="0" dirty="0">
                          <a:solidFill>
                            <a:schemeClr val="dk1"/>
                          </a:solidFill>
                          <a:latin typeface="Montserrat" pitchFamily="2" charset="0"/>
                          <a:ea typeface="+mn-ea"/>
                          <a:cs typeface="+mn-cs"/>
                        </a:rPr>
                        <a:t>5</a:t>
                      </a:r>
                    </a:p>
                  </a:txBody>
                  <a:tcPr anchor="ctr">
                    <a:solidFill>
                      <a:srgbClr val="A1A6D4"/>
                    </a:solidFill>
                  </a:tcPr>
                </a:tc>
                <a:tc>
                  <a:txBody>
                    <a:bodyPr/>
                    <a:lstStyle/>
                    <a:p>
                      <a:pPr algn="l"/>
                      <a:r>
                        <a:rPr lang="fr-FR" sz="900" b="0" i="0" u="none" strike="noStrike" kern="1200" baseline="0" dirty="0">
                          <a:solidFill>
                            <a:schemeClr val="dk1"/>
                          </a:solidFill>
                          <a:latin typeface="Montserrat" pitchFamily="2" charset="0"/>
                          <a:ea typeface="+mn-ea"/>
                          <a:cs typeface="+mn-cs"/>
                        </a:rPr>
                        <a:t>Stabilité du flux complet en direct (ESP8266 -&gt; PC Serveur</a:t>
                      </a:r>
                    </a:p>
                    <a:p>
                      <a:pPr algn="l"/>
                      <a:r>
                        <a:rPr lang="fr-FR" sz="900" b="0" i="0" u="none" strike="noStrike" kern="1200" baseline="0" dirty="0">
                          <a:solidFill>
                            <a:schemeClr val="dk1"/>
                          </a:solidFill>
                          <a:latin typeface="Montserrat" pitchFamily="2" charset="0"/>
                          <a:ea typeface="+mn-ea"/>
                          <a:cs typeface="+mn-cs"/>
                        </a:rPr>
                        <a:t>Local). Réactivité immédiate du Dashboard aux alertes.</a:t>
                      </a:r>
                    </a:p>
                  </a:txBody>
                  <a:tcPr anchor="ctr">
                    <a:solidFill>
                      <a:srgbClr val="A1A6D4"/>
                    </a:solidFill>
                  </a:tcPr>
                </a:tc>
                <a:extLst>
                  <a:ext uri="{0D108BD9-81ED-4DB2-BD59-A6C34878D82A}">
                    <a16:rowId xmlns:a16="http://schemas.microsoft.com/office/drawing/2014/main" val="3622557092"/>
                  </a:ext>
                </a:extLst>
              </a:tr>
              <a:tr h="370840">
                <a:tc>
                  <a:txBody>
                    <a:bodyPr/>
                    <a:lstStyle/>
                    <a:p>
                      <a:pPr algn="l"/>
                      <a:r>
                        <a:rPr lang="fr-FR" sz="900" b="1" i="0" u="none" strike="noStrike" kern="1200" baseline="0" dirty="0">
                          <a:solidFill>
                            <a:schemeClr val="dk1"/>
                          </a:solidFill>
                          <a:latin typeface="Montserrat" pitchFamily="2" charset="0"/>
                          <a:ea typeface="+mn-ea"/>
                          <a:cs typeface="+mn-cs"/>
                        </a:rPr>
                        <a:t>Axe 2 : Technicité, innovation &amp; sécurité</a:t>
                      </a:r>
                      <a:endParaRPr lang="fr-FR" sz="900" b="0" i="0" u="none" strike="noStrike" kern="1200" baseline="0" dirty="0">
                        <a:solidFill>
                          <a:schemeClr val="dk1"/>
                        </a:solidFill>
                        <a:latin typeface="Montserrat" pitchFamily="2" charset="0"/>
                        <a:ea typeface="+mn-ea"/>
                        <a:cs typeface="+mn-cs"/>
                      </a:endParaRPr>
                    </a:p>
                  </a:txBody>
                  <a:tcPr anchor="ctr">
                    <a:noFill/>
                  </a:tcPr>
                </a:tc>
                <a:tc>
                  <a:txBody>
                    <a:bodyPr/>
                    <a:lstStyle/>
                    <a:p>
                      <a:pPr marL="0" algn="ctr" defTabSz="914400" rtl="0" eaLnBrk="1" latinLnBrk="0" hangingPunct="1"/>
                      <a:r>
                        <a:rPr lang="fr-FR" sz="900" b="0" i="0" u="none" strike="noStrike" kern="1200" baseline="0" dirty="0">
                          <a:solidFill>
                            <a:schemeClr val="dk1"/>
                          </a:solidFill>
                          <a:latin typeface="Montserrat" pitchFamily="2" charset="0"/>
                          <a:ea typeface="+mn-ea"/>
                          <a:cs typeface="+mn-cs"/>
                        </a:rPr>
                        <a:t>4</a:t>
                      </a:r>
                    </a:p>
                  </a:txBody>
                  <a:tcPr anchor="ctr">
                    <a:noFill/>
                  </a:tcPr>
                </a:tc>
                <a:tc>
                  <a:txBody>
                    <a:bodyPr/>
                    <a:lstStyle/>
                    <a:p>
                      <a:pPr marL="0" algn="l" defTabSz="914400" rtl="0" eaLnBrk="1" latinLnBrk="0" hangingPunct="1"/>
                      <a:r>
                        <a:rPr lang="fr-FR" sz="900" b="0" i="0" u="none" strike="noStrike" kern="1200" baseline="0" dirty="0">
                          <a:solidFill>
                            <a:schemeClr val="dk1"/>
                          </a:solidFill>
                          <a:latin typeface="Montserrat" pitchFamily="2" charset="0"/>
                          <a:ea typeface="+mn-ea"/>
                          <a:cs typeface="+mn-cs"/>
                        </a:rPr>
                        <a:t>Preuve matérielle du chiffrement des flux, niveau</a:t>
                      </a:r>
                    </a:p>
                    <a:p>
                      <a:pPr marL="0" algn="l" defTabSz="914400" rtl="0" eaLnBrk="1" latinLnBrk="0" hangingPunct="1"/>
                      <a:r>
                        <a:rPr lang="fr-FR" sz="900" b="0" i="0" u="none" strike="noStrike" kern="1200" baseline="0" dirty="0">
                          <a:solidFill>
                            <a:schemeClr val="dk1"/>
                          </a:solidFill>
                          <a:latin typeface="Montserrat" pitchFamily="2" charset="0"/>
                          <a:ea typeface="+mn-ea"/>
                          <a:cs typeface="+mn-cs"/>
                        </a:rPr>
                        <a:t>d'inférence de l'IA sur la webcam, durcissement prouvé du</a:t>
                      </a:r>
                    </a:p>
                    <a:p>
                      <a:pPr marL="0" algn="l" defTabSz="914400" rtl="0" eaLnBrk="1" latinLnBrk="0" hangingPunct="1"/>
                      <a:r>
                        <a:rPr lang="fr-FR" sz="900" b="0" i="0" u="none" strike="noStrike" kern="1200" baseline="0" dirty="0">
                          <a:solidFill>
                            <a:schemeClr val="dk1"/>
                          </a:solidFill>
                          <a:latin typeface="Montserrat" pitchFamily="2" charset="0"/>
                          <a:ea typeface="+mn-ea"/>
                          <a:cs typeface="+mn-cs"/>
                        </a:rPr>
                        <a:t>serveur.</a:t>
                      </a:r>
                    </a:p>
                  </a:txBody>
                  <a:tcPr anchor="ctr">
                    <a:noFill/>
                  </a:tcPr>
                </a:tc>
                <a:extLst>
                  <a:ext uri="{0D108BD9-81ED-4DB2-BD59-A6C34878D82A}">
                    <a16:rowId xmlns:a16="http://schemas.microsoft.com/office/drawing/2014/main" val="16639475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i="0" u="none" strike="noStrike" kern="1200" baseline="0" dirty="0">
                          <a:solidFill>
                            <a:schemeClr val="dk1"/>
                          </a:solidFill>
                          <a:latin typeface="Montserrat" pitchFamily="2" charset="0"/>
                          <a:ea typeface="+mn-ea"/>
                          <a:cs typeface="+mn-cs"/>
                        </a:rPr>
                        <a:t>Axe 3 : Marketing &amp; teaser «Sentinel Drop»</a:t>
                      </a:r>
                      <a:endParaRPr lang="fr-FR" sz="900" b="0" i="0" u="none" strike="noStrike" kern="1200" baseline="0" dirty="0">
                        <a:solidFill>
                          <a:schemeClr val="dk1"/>
                        </a:solidFill>
                        <a:latin typeface="Montserrat" pitchFamily="2" charset="0"/>
                        <a:ea typeface="+mn-ea"/>
                        <a:cs typeface="+mn-cs"/>
                      </a:endParaRPr>
                    </a:p>
                  </a:txBody>
                  <a:tcPr anchor="ctr">
                    <a:solidFill>
                      <a:srgbClr val="A1A6D4"/>
                    </a:solidFill>
                  </a:tcPr>
                </a:tc>
                <a:tc>
                  <a:txBody>
                    <a:bodyPr/>
                    <a:lstStyle/>
                    <a:p>
                      <a:pPr marL="0" algn="ctr" defTabSz="914400" rtl="0" eaLnBrk="1" latinLnBrk="0" hangingPunct="1"/>
                      <a:r>
                        <a:rPr lang="fr-FR" sz="900" b="0" i="0" u="none" strike="noStrike" kern="1200" baseline="0" dirty="0">
                          <a:solidFill>
                            <a:schemeClr val="dk1"/>
                          </a:solidFill>
                          <a:latin typeface="Montserrat" pitchFamily="2" charset="0"/>
                          <a:ea typeface="+mn-ea"/>
                          <a:cs typeface="+mn-cs"/>
                        </a:rPr>
                        <a:t>4</a:t>
                      </a:r>
                    </a:p>
                  </a:txBody>
                  <a:tcPr anchor="ctr">
                    <a:solidFill>
                      <a:srgbClr val="A1A6D4"/>
                    </a:solidFill>
                  </a:tcPr>
                </a:tc>
                <a:tc>
                  <a:txBody>
                    <a:bodyPr/>
                    <a:lstStyle/>
                    <a:p>
                      <a:pPr marL="0" algn="l" defTabSz="914400" rtl="0" eaLnBrk="1" latinLnBrk="0" hangingPunct="1"/>
                      <a:r>
                        <a:rPr lang="fr-FR" sz="900" b="0" i="0" u="none" strike="noStrike" kern="1200" baseline="0" dirty="0">
                          <a:solidFill>
                            <a:schemeClr val="dk1"/>
                          </a:solidFill>
                          <a:latin typeface="Montserrat" pitchFamily="2" charset="0"/>
                          <a:ea typeface="+mn-ea"/>
                          <a:cs typeface="+mn-cs"/>
                        </a:rPr>
                        <a:t>Impact visuel du clip 60s, propreté de l'incrustation fond</a:t>
                      </a:r>
                    </a:p>
                    <a:p>
                      <a:pPr marL="0" algn="l" defTabSz="914400" rtl="0" eaLnBrk="1" latinLnBrk="0" hangingPunct="1"/>
                      <a:r>
                        <a:rPr lang="fr-FR" sz="900" b="0" i="0" u="none" strike="noStrike" kern="1200" baseline="0" dirty="0">
                          <a:solidFill>
                            <a:schemeClr val="dk1"/>
                          </a:solidFill>
                          <a:latin typeface="Montserrat" pitchFamily="2" charset="0"/>
                          <a:ea typeface="+mn-ea"/>
                          <a:cs typeface="+mn-cs"/>
                        </a:rPr>
                        <a:t>vert, finitions esthétiques du boîtier Fablab (gravure laser).</a:t>
                      </a:r>
                    </a:p>
                  </a:txBody>
                  <a:tcPr anchor="ctr">
                    <a:solidFill>
                      <a:srgbClr val="A1A6D4"/>
                    </a:solidFill>
                  </a:tcPr>
                </a:tc>
                <a:extLst>
                  <a:ext uri="{0D108BD9-81ED-4DB2-BD59-A6C34878D82A}">
                    <a16:rowId xmlns:a16="http://schemas.microsoft.com/office/drawing/2014/main" val="3343498776"/>
                  </a:ext>
                </a:extLst>
              </a:tr>
              <a:tr h="370840">
                <a:tc>
                  <a:txBody>
                    <a:bodyPr/>
                    <a:lstStyle/>
                    <a:p>
                      <a:pPr algn="l"/>
                      <a:r>
                        <a:rPr lang="fr-FR" sz="900" b="1" i="0" u="none" strike="noStrike" kern="1200" baseline="0" dirty="0">
                          <a:solidFill>
                            <a:schemeClr val="dk1"/>
                          </a:solidFill>
                          <a:latin typeface="Montserrat" pitchFamily="2" charset="0"/>
                          <a:ea typeface="+mn-ea"/>
                          <a:cs typeface="+mn-cs"/>
                        </a:rPr>
                        <a:t>Axe 4 : Posture, </a:t>
                      </a:r>
                      <a:endParaRPr lang="fr-FR" sz="900" b="0" i="0" u="none" strike="noStrike" kern="1200" baseline="0" dirty="0">
                        <a:solidFill>
                          <a:schemeClr val="dk1"/>
                        </a:solidFill>
                        <a:latin typeface="Montserrat" pitchFamily="2" charset="0"/>
                        <a:ea typeface="+mn-ea"/>
                        <a:cs typeface="+mn-cs"/>
                      </a:endParaRPr>
                    </a:p>
                    <a:p>
                      <a:pPr algn="l"/>
                      <a:r>
                        <a:rPr lang="fr-FR" sz="900" b="1" i="0" u="none" strike="noStrike" kern="1200" baseline="0" dirty="0">
                          <a:solidFill>
                            <a:schemeClr val="dk1"/>
                          </a:solidFill>
                          <a:latin typeface="Montserrat" pitchFamily="2" charset="0"/>
                          <a:ea typeface="+mn-ea"/>
                          <a:cs typeface="+mn-cs"/>
                        </a:rPr>
                        <a:t>Storytelling &amp; Pitch</a:t>
                      </a:r>
                      <a:endParaRPr lang="fr-FR" sz="900" b="0" i="0" u="none" strike="noStrike" kern="1200" baseline="0" dirty="0">
                        <a:solidFill>
                          <a:schemeClr val="dk1"/>
                        </a:solidFill>
                        <a:latin typeface="Montserrat" pitchFamily="2" charset="0"/>
                        <a:ea typeface="+mn-ea"/>
                        <a:cs typeface="+mn-cs"/>
                      </a:endParaRPr>
                    </a:p>
                  </a:txBody>
                  <a:tcPr anchor="ctr">
                    <a:noFill/>
                  </a:tcPr>
                </a:tc>
                <a:tc>
                  <a:txBody>
                    <a:bodyPr/>
                    <a:lstStyle/>
                    <a:p>
                      <a:pPr marL="0" algn="ctr" defTabSz="914400" rtl="0" eaLnBrk="1" latinLnBrk="0" hangingPunct="1"/>
                      <a:r>
                        <a:rPr lang="fr-FR" sz="900" b="0" i="0" u="none" strike="noStrike" kern="1200" baseline="0" dirty="0">
                          <a:solidFill>
                            <a:schemeClr val="dk1"/>
                          </a:solidFill>
                          <a:latin typeface="Montserrat" pitchFamily="2" charset="0"/>
                          <a:ea typeface="+mn-ea"/>
                          <a:cs typeface="+mn-cs"/>
                        </a:rPr>
                        <a:t>4</a:t>
                      </a:r>
                    </a:p>
                  </a:txBody>
                  <a:tcPr anchor="ctr">
                    <a:noFill/>
                  </a:tcPr>
                </a:tc>
                <a:tc>
                  <a:txBody>
                    <a:bodyPr/>
                    <a:lstStyle/>
                    <a:p>
                      <a:pPr marL="0" algn="l" defTabSz="914400" rtl="0" eaLnBrk="1" latinLnBrk="0" hangingPunct="1"/>
                      <a:r>
                        <a:rPr lang="fr-FR" sz="900" b="0" i="0" u="none" strike="noStrike" kern="1200" baseline="0" dirty="0">
                          <a:solidFill>
                            <a:schemeClr val="dk1"/>
                          </a:solidFill>
                          <a:latin typeface="Montserrat" pitchFamily="2" charset="0"/>
                          <a:ea typeface="+mn-ea"/>
                          <a:cs typeface="+mn-cs"/>
                        </a:rPr>
                        <a:t>Clarté de l'exposé, dynamisme de l'équipe,</a:t>
                      </a:r>
                    </a:p>
                    <a:p>
                      <a:pPr marL="0" algn="l" defTabSz="914400" rtl="0" eaLnBrk="1" latinLnBrk="0" hangingPunct="1"/>
                      <a:r>
                        <a:rPr lang="fr-FR" sz="900" b="0" i="0" u="none" strike="noStrike" kern="1200" baseline="0" dirty="0">
                          <a:solidFill>
                            <a:schemeClr val="dk1"/>
                          </a:solidFill>
                          <a:latin typeface="Montserrat" pitchFamily="2" charset="0"/>
                          <a:ea typeface="+mn-ea"/>
                          <a:cs typeface="+mn-cs"/>
                        </a:rPr>
                        <a:t>professionnalisme et respect strict du temps imparti (5 min).</a:t>
                      </a:r>
                    </a:p>
                  </a:txBody>
                  <a:tcPr anchor="ctr">
                    <a:noFill/>
                  </a:tcPr>
                </a:tc>
                <a:extLst>
                  <a:ext uri="{0D108BD9-81ED-4DB2-BD59-A6C34878D82A}">
                    <a16:rowId xmlns:a16="http://schemas.microsoft.com/office/drawing/2014/main" val="19890743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i="0" u="none" strike="noStrike" kern="1200" baseline="0" dirty="0">
                          <a:solidFill>
                            <a:schemeClr val="dk1"/>
                          </a:solidFill>
                          <a:latin typeface="Montserrat" pitchFamily="2" charset="0"/>
                          <a:ea typeface="+mn-ea"/>
                          <a:cs typeface="+mn-cs"/>
                        </a:rPr>
                        <a:t>Axe 5 : Qualité Documentaire &amp; Q&amp;A </a:t>
                      </a:r>
                      <a:endParaRPr lang="fr-FR" sz="900" b="0" i="0" u="none" strike="noStrike" kern="1200" baseline="0" dirty="0">
                        <a:solidFill>
                          <a:schemeClr val="dk1"/>
                        </a:solidFill>
                        <a:latin typeface="Montserrat" pitchFamily="2" charset="0"/>
                        <a:ea typeface="+mn-ea"/>
                        <a:cs typeface="+mn-cs"/>
                      </a:endParaRPr>
                    </a:p>
                  </a:txBody>
                  <a:tcPr anchor="ctr">
                    <a:solidFill>
                      <a:srgbClr val="A1A6D4"/>
                    </a:solidFill>
                  </a:tcPr>
                </a:tc>
                <a:tc>
                  <a:txBody>
                    <a:bodyPr/>
                    <a:lstStyle/>
                    <a:p>
                      <a:pPr marL="0" algn="ctr" defTabSz="914400" rtl="0" eaLnBrk="1" latinLnBrk="0" hangingPunct="1"/>
                      <a:r>
                        <a:rPr lang="fr-FR" sz="900" b="0" i="0" u="none" strike="noStrike" kern="1200" baseline="0" dirty="0">
                          <a:solidFill>
                            <a:schemeClr val="dk1"/>
                          </a:solidFill>
                          <a:latin typeface="Montserrat" pitchFamily="2" charset="0"/>
                          <a:ea typeface="+mn-ea"/>
                          <a:cs typeface="+mn-cs"/>
                        </a:rPr>
                        <a:t>3</a:t>
                      </a:r>
                    </a:p>
                  </a:txBody>
                  <a:tcPr anchor="ctr">
                    <a:solidFill>
                      <a:srgbClr val="A1A6D4"/>
                    </a:solidFill>
                  </a:tcPr>
                </a:tc>
                <a:tc>
                  <a:txBody>
                    <a:bodyPr/>
                    <a:lstStyle/>
                    <a:p>
                      <a:pPr marL="0" algn="l" defTabSz="914400" rtl="0" eaLnBrk="1" latinLnBrk="0" hangingPunct="1"/>
                      <a:r>
                        <a:rPr lang="fr-FR" sz="900" b="0" i="0" u="none" strike="noStrike" kern="1200" baseline="0" dirty="0">
                          <a:solidFill>
                            <a:schemeClr val="dk1"/>
                          </a:solidFill>
                          <a:latin typeface="Montserrat" pitchFamily="2" charset="0"/>
                          <a:ea typeface="+mn-ea"/>
                          <a:cs typeface="+mn-cs"/>
                        </a:rPr>
                        <a:t>Rigueur et exhaustivité du dossier technique remis.</a:t>
                      </a:r>
                    </a:p>
                    <a:p>
                      <a:pPr marL="0" algn="l" defTabSz="914400" rtl="0" eaLnBrk="1" latinLnBrk="0" hangingPunct="1"/>
                      <a:r>
                        <a:rPr lang="fr-FR" sz="900" b="0" i="0" u="none" strike="noStrike" kern="1200" baseline="0" dirty="0">
                          <a:solidFill>
                            <a:schemeClr val="dk1"/>
                          </a:solidFill>
                          <a:latin typeface="Montserrat" pitchFamily="2" charset="0"/>
                          <a:ea typeface="+mn-ea"/>
                          <a:cs typeface="+mn-cs"/>
                        </a:rPr>
                        <a:t>Précision technique des réponses lors de la phase de</a:t>
                      </a:r>
                    </a:p>
                    <a:p>
                      <a:pPr marL="0" algn="l" defTabSz="914400" rtl="0" eaLnBrk="1" latinLnBrk="0" hangingPunct="1"/>
                      <a:r>
                        <a:rPr lang="fr-FR" sz="900" b="0" i="0" u="none" strike="noStrike" kern="1200" baseline="0" dirty="0">
                          <a:solidFill>
                            <a:schemeClr val="dk1"/>
                          </a:solidFill>
                          <a:latin typeface="Montserrat" pitchFamily="2" charset="0"/>
                          <a:ea typeface="+mn-ea"/>
                          <a:cs typeface="+mn-cs"/>
                        </a:rPr>
                        <a:t>questions.</a:t>
                      </a:r>
                    </a:p>
                  </a:txBody>
                  <a:tcPr anchor="ctr">
                    <a:solidFill>
                      <a:srgbClr val="A1A6D4"/>
                    </a:solidFill>
                  </a:tcPr>
                </a:tc>
                <a:extLst>
                  <a:ext uri="{0D108BD9-81ED-4DB2-BD59-A6C34878D82A}">
                    <a16:rowId xmlns:a16="http://schemas.microsoft.com/office/drawing/2014/main" val="2874063269"/>
                  </a:ext>
                </a:extLst>
              </a:tr>
            </a:tbl>
          </a:graphicData>
        </a:graphic>
      </p:graphicFrame>
      <p:graphicFrame>
        <p:nvGraphicFramePr>
          <p:cNvPr id="8" name="Espace réservé du contenu 7">
            <a:extLst>
              <a:ext uri="{FF2B5EF4-FFF2-40B4-BE49-F238E27FC236}">
                <a16:creationId xmlns:a16="http://schemas.microsoft.com/office/drawing/2014/main" id="{5B306F26-BBF8-AD1A-630B-8FE890259B4C}"/>
              </a:ext>
            </a:extLst>
          </p:cNvPr>
          <p:cNvGraphicFramePr>
            <a:graphicFrameLocks noGrp="1"/>
          </p:cNvGraphicFramePr>
          <p:nvPr>
            <p:ph idx="16"/>
            <p:extLst>
              <p:ext uri="{D42A27DB-BD31-4B8C-83A1-F6EECF244321}">
                <p14:modId xmlns:p14="http://schemas.microsoft.com/office/powerpoint/2010/main" val="766587176"/>
              </p:ext>
            </p:extLst>
          </p:nvPr>
        </p:nvGraphicFramePr>
        <p:xfrm>
          <a:off x="6673850" y="2133600"/>
          <a:ext cx="4679950" cy="3205480"/>
        </p:xfrm>
        <a:graphic>
          <a:graphicData uri="http://schemas.openxmlformats.org/drawingml/2006/table">
            <a:tbl>
              <a:tblPr firstRow="1" bandRow="1">
                <a:tableStyleId>{5C22544A-7EE6-4342-B048-85BDC9FD1C3A}</a:tableStyleId>
              </a:tblPr>
              <a:tblGrid>
                <a:gridCol w="1418590">
                  <a:extLst>
                    <a:ext uri="{9D8B030D-6E8A-4147-A177-3AD203B41FA5}">
                      <a16:colId xmlns:a16="http://schemas.microsoft.com/office/drawing/2014/main" val="2189031175"/>
                    </a:ext>
                  </a:extLst>
                </a:gridCol>
                <a:gridCol w="647700">
                  <a:extLst>
                    <a:ext uri="{9D8B030D-6E8A-4147-A177-3AD203B41FA5}">
                      <a16:colId xmlns:a16="http://schemas.microsoft.com/office/drawing/2014/main" val="3818479902"/>
                    </a:ext>
                  </a:extLst>
                </a:gridCol>
                <a:gridCol w="2613660">
                  <a:extLst>
                    <a:ext uri="{9D8B030D-6E8A-4147-A177-3AD203B41FA5}">
                      <a16:colId xmlns:a16="http://schemas.microsoft.com/office/drawing/2014/main" val="395477297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i="0" u="none" strike="noStrike" kern="1200" baseline="0" dirty="0">
                          <a:solidFill>
                            <a:schemeClr val="lt1"/>
                          </a:solidFill>
                          <a:latin typeface="Montserrat Bold" pitchFamily="2" charset="0"/>
                          <a:ea typeface="+mn-ea"/>
                          <a:cs typeface="+mn-cs"/>
                        </a:rPr>
                        <a:t>AXE D'ÉVALUATION NATIONAL</a:t>
                      </a:r>
                    </a:p>
                  </a:txBody>
                  <a:tcPr anchor="ctr">
                    <a:solidFill>
                      <a:srgbClr val="261E4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0" u="none" strike="noStrike" kern="1200" baseline="0" dirty="0">
                          <a:solidFill>
                            <a:schemeClr val="lt1"/>
                          </a:solidFill>
                          <a:latin typeface="Montserrat Bold" pitchFamily="2" charset="0"/>
                          <a:ea typeface="+mn-ea"/>
                          <a:cs typeface="+mn-cs"/>
                        </a:rPr>
                        <a:t>POINTS</a:t>
                      </a:r>
                    </a:p>
                  </a:txBody>
                  <a:tcPr anchor="ctr">
                    <a:solidFill>
                      <a:srgbClr val="261E4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i="0" u="none" strike="noStrike" kern="1200" baseline="0" dirty="0">
                          <a:solidFill>
                            <a:schemeClr val="lt1"/>
                          </a:solidFill>
                          <a:latin typeface="Montserrat Bold" pitchFamily="2" charset="0"/>
                          <a:ea typeface="+mn-ea"/>
                          <a:cs typeface="+mn-cs"/>
                        </a:rPr>
                        <a:t>INDICATEURS DE PERFORMANCE RECHERCHÉS PAR LES JURYS</a:t>
                      </a:r>
                    </a:p>
                  </a:txBody>
                  <a:tcPr anchor="ctr">
                    <a:solidFill>
                      <a:srgbClr val="261E48"/>
                    </a:solidFill>
                  </a:tcPr>
                </a:tc>
                <a:extLst>
                  <a:ext uri="{0D108BD9-81ED-4DB2-BD59-A6C34878D82A}">
                    <a16:rowId xmlns:a16="http://schemas.microsoft.com/office/drawing/2014/main" val="2171731365"/>
                  </a:ext>
                </a:extLst>
              </a:tr>
              <a:tr h="370840">
                <a:tc>
                  <a:txBody>
                    <a:bodyPr/>
                    <a:lstStyle/>
                    <a:p>
                      <a:r>
                        <a:rPr lang="fr-FR" sz="900" b="1" i="0" u="none" strike="noStrike" kern="1200" baseline="0" dirty="0">
                          <a:solidFill>
                            <a:schemeClr val="dk1"/>
                          </a:solidFill>
                          <a:latin typeface="Montserrat" pitchFamily="2" charset="0"/>
                          <a:ea typeface="+mn-ea"/>
                          <a:cs typeface="+mn-cs"/>
                        </a:rPr>
                        <a:t>Démonstration Produit (Live)</a:t>
                      </a:r>
                      <a:endParaRPr lang="fr-FR" sz="900" dirty="0">
                        <a:latin typeface="Montserrat" pitchFamily="2" charset="0"/>
                      </a:endParaRPr>
                    </a:p>
                  </a:txBody>
                  <a:tcPr anchor="ctr">
                    <a:solidFill>
                      <a:srgbClr val="A1A6D4"/>
                    </a:solidFill>
                  </a:tcPr>
                </a:tc>
                <a:tc>
                  <a:txBody>
                    <a:bodyPr/>
                    <a:lstStyle/>
                    <a:p>
                      <a:pPr algn="ctr"/>
                      <a:r>
                        <a:rPr lang="fr-FR" sz="900" dirty="0">
                          <a:latin typeface="Montserrat" pitchFamily="2" charset="0"/>
                        </a:rPr>
                        <a:t>25</a:t>
                      </a:r>
                    </a:p>
                  </a:txBody>
                  <a:tcPr anchor="ctr">
                    <a:solidFill>
                      <a:srgbClr val="A1A6D4"/>
                    </a:solidFill>
                  </a:tcPr>
                </a:tc>
                <a:tc>
                  <a:txBody>
                    <a:bodyPr/>
                    <a:lstStyle/>
                    <a:p>
                      <a:r>
                        <a:rPr lang="fr-FR" sz="900" b="0" i="0" u="none" strike="noStrike" kern="1200" baseline="0" dirty="0">
                          <a:solidFill>
                            <a:schemeClr val="dk1"/>
                          </a:solidFill>
                          <a:latin typeface="Montserrat" pitchFamily="2" charset="0"/>
                          <a:ea typeface="+mn-ea"/>
                          <a:cs typeface="+mn-cs"/>
                        </a:rPr>
                        <a:t>Visibilité claire de la stack technique à l'écran,</a:t>
                      </a:r>
                    </a:p>
                    <a:p>
                      <a:r>
                        <a:rPr lang="fr-FR" sz="900" b="0" i="0" u="none" strike="noStrike" kern="1200" baseline="0" dirty="0">
                          <a:solidFill>
                            <a:schemeClr val="dk1"/>
                          </a:solidFill>
                          <a:latin typeface="Montserrat" pitchFamily="2" charset="0"/>
                          <a:ea typeface="+mn-ea"/>
                          <a:cs typeface="+mn-cs"/>
                        </a:rPr>
                        <a:t>réactivité réseau instantanée, absence de</a:t>
                      </a:r>
                    </a:p>
                    <a:p>
                      <a:r>
                        <a:rPr lang="fr-FR" sz="900" b="0" i="0" u="none" strike="noStrike" kern="1200" baseline="0" dirty="0">
                          <a:solidFill>
                            <a:schemeClr val="dk1"/>
                          </a:solidFill>
                          <a:latin typeface="Montserrat" pitchFamily="2" charset="0"/>
                          <a:ea typeface="+mn-ea"/>
                          <a:cs typeface="+mn-cs"/>
                        </a:rPr>
                        <a:t>plantage.</a:t>
                      </a:r>
                      <a:endParaRPr lang="fr-FR" sz="900" dirty="0">
                        <a:latin typeface="Montserrat" pitchFamily="2" charset="0"/>
                      </a:endParaRPr>
                    </a:p>
                  </a:txBody>
                  <a:tcPr anchor="ctr">
                    <a:solidFill>
                      <a:srgbClr val="A1A6D4"/>
                    </a:solidFill>
                  </a:tcPr>
                </a:tc>
                <a:extLst>
                  <a:ext uri="{0D108BD9-81ED-4DB2-BD59-A6C34878D82A}">
                    <a16:rowId xmlns:a16="http://schemas.microsoft.com/office/drawing/2014/main" val="2980656989"/>
                  </a:ext>
                </a:extLst>
              </a:tr>
              <a:tr h="370840">
                <a:tc>
                  <a:txBody>
                    <a:bodyPr/>
                    <a:lstStyle/>
                    <a:p>
                      <a:r>
                        <a:rPr lang="fr-FR" sz="900" b="1" i="0" u="none" strike="noStrike" kern="1200" baseline="0" dirty="0">
                          <a:solidFill>
                            <a:schemeClr val="dk1"/>
                          </a:solidFill>
                          <a:latin typeface="Montserrat" pitchFamily="2" charset="0"/>
                          <a:ea typeface="+mn-ea"/>
                          <a:cs typeface="+mn-cs"/>
                        </a:rPr>
                        <a:t>Vulgarisation &amp; Posture de Pitch</a:t>
                      </a:r>
                      <a:endParaRPr lang="fr-FR" sz="900" dirty="0">
                        <a:latin typeface="Montserrat" pitchFamily="2" charset="0"/>
                      </a:endParaRPr>
                    </a:p>
                  </a:txBody>
                  <a:tcPr anchor="ctr">
                    <a:noFill/>
                  </a:tcPr>
                </a:tc>
                <a:tc>
                  <a:txBody>
                    <a:bodyPr/>
                    <a:lstStyle/>
                    <a:p>
                      <a:pPr algn="ctr"/>
                      <a:r>
                        <a:rPr lang="fr-FR" sz="900" dirty="0">
                          <a:latin typeface="Montserrat" pitchFamily="2" charset="0"/>
                        </a:rPr>
                        <a:t>20</a:t>
                      </a:r>
                    </a:p>
                  </a:txBody>
                  <a:tcPr anchor="ctr">
                    <a:noFill/>
                  </a:tcPr>
                </a:tc>
                <a:tc>
                  <a:txBody>
                    <a:bodyPr/>
                    <a:lstStyle/>
                    <a:p>
                      <a:r>
                        <a:rPr lang="fr-FR" sz="900" b="0" i="0" u="none" strike="noStrike" kern="1200" baseline="0" dirty="0">
                          <a:solidFill>
                            <a:schemeClr val="dk1"/>
                          </a:solidFill>
                          <a:latin typeface="Montserrat" pitchFamily="2" charset="0"/>
                          <a:ea typeface="+mn-ea"/>
                          <a:cs typeface="+mn-cs"/>
                        </a:rPr>
                        <a:t>Régularité du débit de parole, dynamisme,</a:t>
                      </a:r>
                    </a:p>
                    <a:p>
                      <a:r>
                        <a:rPr lang="fr-FR" sz="900" b="0" i="0" u="none" strike="noStrike" kern="1200" baseline="0" dirty="0">
                          <a:solidFill>
                            <a:schemeClr val="dk1"/>
                          </a:solidFill>
                          <a:latin typeface="Montserrat" pitchFamily="2" charset="0"/>
                          <a:ea typeface="+mn-ea"/>
                          <a:cs typeface="+mn-cs"/>
                        </a:rPr>
                        <a:t>clarté de la narration et force de persuasion à</a:t>
                      </a:r>
                    </a:p>
                    <a:p>
                      <a:r>
                        <a:rPr lang="fr-FR" sz="900" b="0" i="0" u="none" strike="noStrike" kern="1200" baseline="0" dirty="0">
                          <a:solidFill>
                            <a:schemeClr val="dk1"/>
                          </a:solidFill>
                          <a:latin typeface="Montserrat" pitchFamily="2" charset="0"/>
                          <a:ea typeface="+mn-ea"/>
                          <a:cs typeface="+mn-cs"/>
                        </a:rPr>
                        <a:t>distance.</a:t>
                      </a:r>
                      <a:endParaRPr lang="fr-FR" sz="900" dirty="0">
                        <a:latin typeface="Montserrat" pitchFamily="2" charset="0"/>
                      </a:endParaRPr>
                    </a:p>
                  </a:txBody>
                  <a:tcPr anchor="ctr">
                    <a:noFill/>
                  </a:tcPr>
                </a:tc>
                <a:extLst>
                  <a:ext uri="{0D108BD9-81ED-4DB2-BD59-A6C34878D82A}">
                    <a16:rowId xmlns:a16="http://schemas.microsoft.com/office/drawing/2014/main" val="1470218288"/>
                  </a:ext>
                </a:extLst>
              </a:tr>
              <a:tr h="370840">
                <a:tc>
                  <a:txBody>
                    <a:bodyPr/>
                    <a:lstStyle/>
                    <a:p>
                      <a:r>
                        <a:rPr lang="fr-FR" sz="900" b="1" i="0" u="none" strike="noStrike" kern="1200" baseline="0" dirty="0">
                          <a:solidFill>
                            <a:schemeClr val="dk1"/>
                          </a:solidFill>
                          <a:latin typeface="Montserrat" pitchFamily="2" charset="0"/>
                          <a:ea typeface="+mn-ea"/>
                          <a:cs typeface="+mn-cs"/>
                        </a:rPr>
                        <a:t>Complexité Technique &amp; Innovation</a:t>
                      </a:r>
                      <a:endParaRPr lang="fr-FR" sz="900" dirty="0">
                        <a:latin typeface="Montserrat" pitchFamily="2" charset="0"/>
                      </a:endParaRPr>
                    </a:p>
                  </a:txBody>
                  <a:tcPr anchor="ctr">
                    <a:solidFill>
                      <a:srgbClr val="A1A6D4"/>
                    </a:solidFill>
                  </a:tcPr>
                </a:tc>
                <a:tc>
                  <a:txBody>
                    <a:bodyPr/>
                    <a:lstStyle/>
                    <a:p>
                      <a:pPr algn="ctr"/>
                      <a:r>
                        <a:rPr lang="fr-FR" sz="900" dirty="0">
                          <a:latin typeface="Montserrat" pitchFamily="2" charset="0"/>
                        </a:rPr>
                        <a:t>15</a:t>
                      </a:r>
                    </a:p>
                  </a:txBody>
                  <a:tcPr anchor="ctr">
                    <a:solidFill>
                      <a:srgbClr val="A1A6D4"/>
                    </a:solidFill>
                  </a:tcPr>
                </a:tc>
                <a:tc>
                  <a:txBody>
                    <a:bodyPr/>
                    <a:lstStyle/>
                    <a:p>
                      <a:r>
                        <a:rPr lang="fr-FR" sz="900" b="0" i="0" u="none" strike="noStrike" kern="1200" baseline="0" dirty="0">
                          <a:solidFill>
                            <a:schemeClr val="dk1"/>
                          </a:solidFill>
                          <a:latin typeface="Montserrat" pitchFamily="2" charset="0"/>
                          <a:ea typeface="+mn-ea"/>
                          <a:cs typeface="+mn-cs"/>
                        </a:rPr>
                        <a:t>Robustesse apparente du lien ESP8266-to-</a:t>
                      </a:r>
                    </a:p>
                    <a:p>
                      <a:r>
                        <a:rPr lang="fr-FR" sz="900" b="0" i="0" u="none" strike="noStrike" kern="1200" baseline="0" dirty="0">
                          <a:solidFill>
                            <a:schemeClr val="dk1"/>
                          </a:solidFill>
                          <a:latin typeface="Montserrat" pitchFamily="2" charset="0"/>
                          <a:ea typeface="+mn-ea"/>
                          <a:cs typeface="+mn-cs"/>
                        </a:rPr>
                        <a:t>Server, intégration propre de la couche de</a:t>
                      </a:r>
                    </a:p>
                    <a:p>
                      <a:r>
                        <a:rPr lang="fr-FR" sz="900" b="0" i="0" u="none" strike="noStrike" kern="1200" baseline="0" dirty="0">
                          <a:solidFill>
                            <a:schemeClr val="dk1"/>
                          </a:solidFill>
                          <a:latin typeface="Montserrat" pitchFamily="2" charset="0"/>
                          <a:ea typeface="+mn-ea"/>
                          <a:cs typeface="+mn-cs"/>
                        </a:rPr>
                        <a:t>chiffrement et de l'IA.</a:t>
                      </a:r>
                      <a:endParaRPr lang="fr-FR" sz="900" dirty="0">
                        <a:latin typeface="Montserrat" pitchFamily="2" charset="0"/>
                      </a:endParaRPr>
                    </a:p>
                  </a:txBody>
                  <a:tcPr anchor="ctr">
                    <a:solidFill>
                      <a:srgbClr val="A1A6D4"/>
                    </a:solidFill>
                  </a:tcPr>
                </a:tc>
                <a:extLst>
                  <a:ext uri="{0D108BD9-81ED-4DB2-BD59-A6C34878D82A}">
                    <a16:rowId xmlns:a16="http://schemas.microsoft.com/office/drawing/2014/main" val="1946369927"/>
                  </a:ext>
                </a:extLst>
              </a:tr>
              <a:tr h="370840">
                <a:tc>
                  <a:txBody>
                    <a:bodyPr/>
                    <a:lstStyle/>
                    <a:p>
                      <a:r>
                        <a:rPr lang="fr-FR" sz="900" b="1" i="0" u="none" strike="noStrike" kern="1200" baseline="0" dirty="0">
                          <a:solidFill>
                            <a:schemeClr val="dk1"/>
                          </a:solidFill>
                          <a:latin typeface="Montserrat" pitchFamily="2" charset="0"/>
                          <a:ea typeface="+mn-ea"/>
                          <a:cs typeface="+mn-cs"/>
                        </a:rPr>
                        <a:t>Impact Visuel du "Drop" (Vidéo)</a:t>
                      </a:r>
                      <a:endParaRPr lang="fr-FR" sz="900" dirty="0">
                        <a:latin typeface="Montserrat" pitchFamily="2" charset="0"/>
                      </a:endParaRPr>
                    </a:p>
                  </a:txBody>
                  <a:tcPr anchor="ctr">
                    <a:noFill/>
                  </a:tcPr>
                </a:tc>
                <a:tc>
                  <a:txBody>
                    <a:bodyPr/>
                    <a:lstStyle/>
                    <a:p>
                      <a:pPr algn="ctr"/>
                      <a:r>
                        <a:rPr lang="fr-FR" sz="900" dirty="0">
                          <a:latin typeface="Montserrat" pitchFamily="2" charset="0"/>
                        </a:rPr>
                        <a:t>10</a:t>
                      </a:r>
                    </a:p>
                  </a:txBody>
                  <a:tcPr anchor="ctr">
                    <a:noFill/>
                  </a:tcPr>
                </a:tc>
                <a:tc>
                  <a:txBody>
                    <a:bodyPr/>
                    <a:lstStyle/>
                    <a:p>
                      <a:r>
                        <a:rPr lang="fr-FR" sz="900" b="0" i="0" u="none" strike="noStrike" kern="1200" baseline="0" dirty="0">
                          <a:solidFill>
                            <a:schemeClr val="dk1"/>
                          </a:solidFill>
                          <a:latin typeface="Montserrat" pitchFamily="2" charset="0"/>
                          <a:ea typeface="+mn-ea"/>
                          <a:cs typeface="+mn-cs"/>
                        </a:rPr>
                        <a:t>Qualité de l'incrustation vidéo sur fond vert,</a:t>
                      </a:r>
                    </a:p>
                    <a:p>
                      <a:r>
                        <a:rPr lang="fr-FR" sz="900" b="0" i="0" u="none" strike="noStrike" kern="1200" baseline="0" dirty="0">
                          <a:solidFill>
                            <a:schemeClr val="dk1"/>
                          </a:solidFill>
                          <a:latin typeface="Montserrat" pitchFamily="2" charset="0"/>
                          <a:ea typeface="+mn-ea"/>
                          <a:cs typeface="+mn-cs"/>
                        </a:rPr>
                        <a:t>dynamisme du montage et design esthétique</a:t>
                      </a:r>
                    </a:p>
                    <a:p>
                      <a:r>
                        <a:rPr lang="fr-FR" sz="900" b="0" i="0" u="none" strike="noStrike" kern="1200" baseline="0" dirty="0">
                          <a:solidFill>
                            <a:schemeClr val="dk1"/>
                          </a:solidFill>
                          <a:latin typeface="Montserrat" pitchFamily="2" charset="0"/>
                          <a:ea typeface="+mn-ea"/>
                          <a:cs typeface="+mn-cs"/>
                        </a:rPr>
                        <a:t>du boîtier Fablab.</a:t>
                      </a:r>
                      <a:endParaRPr lang="fr-FR" sz="900" dirty="0">
                        <a:latin typeface="Montserrat" pitchFamily="2" charset="0"/>
                      </a:endParaRPr>
                    </a:p>
                  </a:txBody>
                  <a:tcPr anchor="ctr">
                    <a:noFill/>
                  </a:tcPr>
                </a:tc>
                <a:extLst>
                  <a:ext uri="{0D108BD9-81ED-4DB2-BD59-A6C34878D82A}">
                    <a16:rowId xmlns:a16="http://schemas.microsoft.com/office/drawing/2014/main" val="3792229716"/>
                  </a:ext>
                </a:extLst>
              </a:tr>
            </a:tbl>
          </a:graphicData>
        </a:graphic>
      </p:graphicFrame>
      <p:sp>
        <p:nvSpPr>
          <p:cNvPr id="6" name="Espace réservé du numéro de diapositive 5">
            <a:extLst>
              <a:ext uri="{FF2B5EF4-FFF2-40B4-BE49-F238E27FC236}">
                <a16:creationId xmlns:a16="http://schemas.microsoft.com/office/drawing/2014/main" id="{5547A8A5-D873-C823-70C9-5B44972B6A4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7</a:t>
            </a:fld>
            <a:endParaRPr lang="fr-FR"/>
          </a:p>
        </p:txBody>
      </p:sp>
    </p:spTree>
    <p:extLst>
      <p:ext uri="{BB962C8B-B14F-4D97-AF65-F5344CB8AC3E}">
        <p14:creationId xmlns:p14="http://schemas.microsoft.com/office/powerpoint/2010/main" val="3783561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DC153B-A088-D809-32E2-DE7BF1D4452D}"/>
              </a:ext>
            </a:extLst>
          </p:cNvPr>
          <p:cNvSpPr>
            <a:spLocks noGrp="1" noRot="1" noMove="1" noResize="1" noEditPoints="1" noAdjustHandles="1" noChangeArrowheads="1" noChangeShapeType="1"/>
          </p:cNvSpPr>
          <p:nvPr>
            <p:ph type="ctrTitle"/>
          </p:nvPr>
        </p:nvSpPr>
        <p:spPr/>
        <p:txBody>
          <a:bodyPr/>
          <a:lstStyle/>
          <a:p>
            <a:pPr algn="ctr"/>
            <a:r>
              <a:rPr lang="fr-FR" dirty="0"/>
              <a:t>A VOUS DE JOUER !</a:t>
            </a:r>
          </a:p>
        </p:txBody>
      </p:sp>
      <p:sp>
        <p:nvSpPr>
          <p:cNvPr id="3" name="Sous-titre 2">
            <a:extLst>
              <a:ext uri="{FF2B5EF4-FFF2-40B4-BE49-F238E27FC236}">
                <a16:creationId xmlns:a16="http://schemas.microsoft.com/office/drawing/2014/main" id="{30FE48B0-46FD-9519-A103-BD7750D957D9}"/>
              </a:ext>
            </a:extLst>
          </p:cNvPr>
          <p:cNvSpPr>
            <a:spLocks noGrp="1" noRot="1" noMove="1" noResize="1" noEditPoints="1" noAdjustHandles="1" noChangeArrowheads="1" noChangeShapeType="1"/>
          </p:cNvSpPr>
          <p:nvPr>
            <p:ph type="subTitle" idx="1"/>
          </p:nvPr>
        </p:nvSpPr>
        <p:spPr/>
        <p:txBody>
          <a:bodyPr/>
          <a:lstStyle/>
          <a:p>
            <a:r>
              <a:rPr lang="fr-FR" dirty="0"/>
              <a:t>Mission Sentinel-X est lancée. Protégez vos accès, verrouillez vos architectures, et surtout : tenez bon jusqu'à vendredi. </a:t>
            </a:r>
          </a:p>
          <a:p>
            <a:r>
              <a:rPr lang="fr-FR" dirty="0"/>
              <a:t>Bon courage à tous !</a:t>
            </a:r>
          </a:p>
        </p:txBody>
      </p:sp>
      <p:sp>
        <p:nvSpPr>
          <p:cNvPr id="4" name="Espace réservé du numéro de diapositive 3">
            <a:extLst>
              <a:ext uri="{FF2B5EF4-FFF2-40B4-BE49-F238E27FC236}">
                <a16:creationId xmlns:a16="http://schemas.microsoft.com/office/drawing/2014/main" id="{39DE4AD4-C6B8-63C8-A5D1-8ED76334FB9A}"/>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8</a:t>
            </a:fld>
            <a:endParaRPr lang="fr-FR"/>
          </a:p>
        </p:txBody>
      </p:sp>
    </p:spTree>
    <p:extLst>
      <p:ext uri="{BB962C8B-B14F-4D97-AF65-F5344CB8AC3E}">
        <p14:creationId xmlns:p14="http://schemas.microsoft.com/office/powerpoint/2010/main" val="3429768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86C1FA-27A2-FD76-12EC-947E05BB216D}"/>
              </a:ext>
            </a:extLst>
          </p:cNvPr>
          <p:cNvSpPr>
            <a:spLocks noGrp="1" noRot="1" noMove="1" noResize="1" noEditPoints="1" noAdjustHandles="1" noChangeArrowheads="1" noChangeShapeType="1"/>
          </p:cNvSpPr>
          <p:nvPr>
            <p:ph type="title"/>
          </p:nvPr>
        </p:nvSpPr>
        <p:spPr/>
        <p:txBody>
          <a:bodyPr/>
          <a:lstStyle/>
          <a:p>
            <a:r>
              <a:rPr lang="fr-FR" dirty="0"/>
              <a:t>Charte graphique</a:t>
            </a:r>
          </a:p>
        </p:txBody>
      </p:sp>
      <p:sp>
        <p:nvSpPr>
          <p:cNvPr id="3" name="Sous-titre 2">
            <a:extLst>
              <a:ext uri="{FF2B5EF4-FFF2-40B4-BE49-F238E27FC236}">
                <a16:creationId xmlns:a16="http://schemas.microsoft.com/office/drawing/2014/main" id="{DB392CDB-BEAA-2C33-0D91-CA9C2AA83248}"/>
              </a:ext>
            </a:extLst>
          </p:cNvPr>
          <p:cNvSpPr>
            <a:spLocks noGrp="1" noRot="1" noMove="1" noResize="1" noEditPoints="1" noAdjustHandles="1" noChangeArrowheads="1" noChangeShapeType="1"/>
          </p:cNvSpPr>
          <p:nvPr>
            <p:ph type="subTitle" idx="4294967295"/>
          </p:nvPr>
        </p:nvSpPr>
        <p:spPr>
          <a:xfrm>
            <a:off x="1285874" y="1263182"/>
            <a:ext cx="10067925" cy="360000"/>
          </a:xfrm>
        </p:spPr>
        <p:txBody>
          <a:bodyPr>
            <a:normAutofit/>
          </a:bodyPr>
          <a:lstStyle/>
          <a:p>
            <a:r>
              <a:rPr lang="fr-FR" dirty="0"/>
              <a:t>Polices, couleurs, logos</a:t>
            </a:r>
          </a:p>
        </p:txBody>
      </p:sp>
      <p:sp>
        <p:nvSpPr>
          <p:cNvPr id="4" name="Espace réservé du contenu 3">
            <a:extLst>
              <a:ext uri="{FF2B5EF4-FFF2-40B4-BE49-F238E27FC236}">
                <a16:creationId xmlns:a16="http://schemas.microsoft.com/office/drawing/2014/main" id="{A2AC4BC6-4B3F-34AF-FCB2-E42448777138}"/>
              </a:ext>
            </a:extLst>
          </p:cNvPr>
          <p:cNvSpPr>
            <a:spLocks noGrp="1" noRot="1" noMove="1" noResize="1" noEditPoints="1" noAdjustHandles="1" noChangeArrowheads="1" noChangeShapeType="1"/>
          </p:cNvSpPr>
          <p:nvPr>
            <p:ph idx="1"/>
          </p:nvPr>
        </p:nvSpPr>
        <p:spPr/>
        <p:txBody>
          <a:bodyPr/>
          <a:lstStyle/>
          <a:p>
            <a:r>
              <a:rPr lang="fr-FR" dirty="0"/>
              <a:t>Polices :</a:t>
            </a:r>
          </a:p>
          <a:p>
            <a:endParaRPr lang="fr-FR" dirty="0"/>
          </a:p>
          <a:p>
            <a:r>
              <a:rPr lang="fr-FR" dirty="0"/>
              <a:t>Contenu : Montserrat</a:t>
            </a:r>
          </a:p>
          <a:p>
            <a:r>
              <a:rPr lang="fr-FR" dirty="0"/>
              <a:t>Titre : </a:t>
            </a:r>
            <a:r>
              <a:rPr lang="fr-FR" dirty="0">
                <a:latin typeface="Montserrat Bold" pitchFamily="2" charset="0"/>
              </a:rPr>
              <a:t>Montserrat Bold</a:t>
            </a:r>
          </a:p>
          <a:p>
            <a:r>
              <a:rPr lang="fr-FR" dirty="0"/>
              <a:t>Sous-titre : </a:t>
            </a:r>
            <a:r>
              <a:rPr lang="fr-FR" dirty="0">
                <a:latin typeface="Montserrat italic" pitchFamily="2" charset="0"/>
              </a:rPr>
              <a:t>Montserrat Italic</a:t>
            </a:r>
          </a:p>
        </p:txBody>
      </p:sp>
      <p:sp>
        <p:nvSpPr>
          <p:cNvPr id="5" name="Espace réservé du contenu 4">
            <a:extLst>
              <a:ext uri="{FF2B5EF4-FFF2-40B4-BE49-F238E27FC236}">
                <a16:creationId xmlns:a16="http://schemas.microsoft.com/office/drawing/2014/main" id="{C09FBB93-397A-CAC5-3763-5CD516CDDA6D}"/>
              </a:ext>
            </a:extLst>
          </p:cNvPr>
          <p:cNvSpPr>
            <a:spLocks noGrp="1" noRot="1" noMove="1" noResize="1" noEditPoints="1" noAdjustHandles="1" noChangeArrowheads="1" noChangeShapeType="1"/>
          </p:cNvSpPr>
          <p:nvPr>
            <p:ph idx="14"/>
          </p:nvPr>
        </p:nvSpPr>
        <p:spPr/>
        <p:txBody>
          <a:bodyPr/>
          <a:lstStyle/>
          <a:p>
            <a:r>
              <a:rPr lang="fr-FR" dirty="0"/>
              <a:t>Couleurs :</a:t>
            </a:r>
          </a:p>
          <a:p>
            <a:endParaRPr lang="fr-FR" dirty="0"/>
          </a:p>
          <a:p>
            <a:r>
              <a:rPr lang="fr-FR" dirty="0"/>
              <a:t>Ecriture : #261E48</a:t>
            </a:r>
          </a:p>
          <a:p>
            <a:r>
              <a:rPr lang="fr-FR" dirty="0"/>
              <a:t>Fond diapo : #E4E6F3</a:t>
            </a:r>
          </a:p>
          <a:p>
            <a:r>
              <a:rPr lang="fr-FR" dirty="0"/>
              <a:t>Fond rectangle : #A1A6D4</a:t>
            </a:r>
          </a:p>
        </p:txBody>
      </p:sp>
      <p:sp>
        <p:nvSpPr>
          <p:cNvPr id="6" name="Espace réservé du contenu 5">
            <a:extLst>
              <a:ext uri="{FF2B5EF4-FFF2-40B4-BE49-F238E27FC236}">
                <a16:creationId xmlns:a16="http://schemas.microsoft.com/office/drawing/2014/main" id="{518A9A03-EDE1-BA3A-51E1-66CDF9545245}"/>
              </a:ext>
            </a:extLst>
          </p:cNvPr>
          <p:cNvSpPr>
            <a:spLocks noGrp="1" noRot="1" noMove="1" noResize="1" noEditPoints="1" noAdjustHandles="1" noChangeArrowheads="1" noChangeShapeType="1"/>
          </p:cNvSpPr>
          <p:nvPr>
            <p:ph idx="15"/>
          </p:nvPr>
        </p:nvSpPr>
        <p:spPr/>
        <p:txBody>
          <a:bodyPr/>
          <a:lstStyle/>
          <a:p>
            <a:r>
              <a:rPr lang="fr-FR" dirty="0"/>
              <a:t>Logos :</a:t>
            </a:r>
          </a:p>
          <a:p>
            <a:endParaRPr lang="fr-FR" dirty="0"/>
          </a:p>
          <a:p>
            <a:endParaRPr lang="fr-FR" dirty="0"/>
          </a:p>
        </p:txBody>
      </p:sp>
      <p:sp>
        <p:nvSpPr>
          <p:cNvPr id="8" name="Freeform 13">
            <a:extLst>
              <a:ext uri="{FF2B5EF4-FFF2-40B4-BE49-F238E27FC236}">
                <a16:creationId xmlns:a16="http://schemas.microsoft.com/office/drawing/2014/main" id="{C63E565F-A37A-2A0A-22BC-61E5AA5BDC3B}"/>
              </a:ext>
            </a:extLst>
          </p:cNvPr>
          <p:cNvSpPr>
            <a:spLocks noGrp="1" noRot="1" noMove="1" noResize="1" noEditPoints="1" noAdjustHandles="1" noChangeArrowheads="1" noChangeShapeType="1"/>
          </p:cNvSpPr>
          <p:nvPr/>
        </p:nvSpPr>
        <p:spPr>
          <a:xfrm>
            <a:off x="8311896" y="2987039"/>
            <a:ext cx="1138023" cy="652175"/>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3"/>
            <a:stretch>
              <a:fillRect l="-107" r="-107"/>
            </a:stretch>
          </a:blipFill>
        </p:spPr>
        <p:txBody>
          <a:bodyPr/>
          <a:lstStyle/>
          <a:p>
            <a:endParaRPr lang="fr-FR"/>
          </a:p>
        </p:txBody>
      </p:sp>
      <p:sp>
        <p:nvSpPr>
          <p:cNvPr id="10" name="Freeform 3">
            <a:extLst>
              <a:ext uri="{FF2B5EF4-FFF2-40B4-BE49-F238E27FC236}">
                <a16:creationId xmlns:a16="http://schemas.microsoft.com/office/drawing/2014/main" id="{C5408919-93DE-A952-C1A9-9C6B26C84F20}"/>
              </a:ext>
            </a:extLst>
          </p:cNvPr>
          <p:cNvSpPr>
            <a:spLocks noGrp="1" noRot="1" noMove="1" noResize="1" noEditPoints="1" noAdjustHandles="1" noChangeArrowheads="1" noChangeShapeType="1"/>
          </p:cNvSpPr>
          <p:nvPr/>
        </p:nvSpPr>
        <p:spPr>
          <a:xfrm>
            <a:off x="8311896" y="4161420"/>
            <a:ext cx="1138023" cy="652175"/>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4"/>
            <a:stretch>
              <a:fillRect/>
            </a:stretch>
          </a:blipFill>
        </p:spPr>
        <p:txBody>
          <a:bodyPr/>
          <a:lstStyle/>
          <a:p>
            <a:endParaRPr lang="fr-FR"/>
          </a:p>
        </p:txBody>
      </p:sp>
      <p:pic>
        <p:nvPicPr>
          <p:cNvPr id="13" name="Graphique 12">
            <a:extLst>
              <a:ext uri="{FF2B5EF4-FFF2-40B4-BE49-F238E27FC236}">
                <a16:creationId xmlns:a16="http://schemas.microsoft.com/office/drawing/2014/main" id="{18C0B1A5-9749-0D6F-79FF-82D1E5F6906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10014214" y="3041091"/>
            <a:ext cx="1137600" cy="544070"/>
          </a:xfrm>
          <a:prstGeom prst="rect">
            <a:avLst/>
          </a:prstGeom>
        </p:spPr>
      </p:pic>
      <p:pic>
        <p:nvPicPr>
          <p:cNvPr id="15" name="Graphique 14">
            <a:extLst>
              <a:ext uri="{FF2B5EF4-FFF2-40B4-BE49-F238E27FC236}">
                <a16:creationId xmlns:a16="http://schemas.microsoft.com/office/drawing/2014/main" id="{6BB7E6D6-2063-03B7-AE93-D65A109B181E}"/>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10014214" y="4213010"/>
            <a:ext cx="1137600" cy="544070"/>
          </a:xfrm>
          <a:prstGeom prst="rect">
            <a:avLst/>
          </a:prstGeom>
        </p:spPr>
      </p:pic>
      <p:sp>
        <p:nvSpPr>
          <p:cNvPr id="16" name="Espace réservé du numéro de diapositive 15">
            <a:extLst>
              <a:ext uri="{FF2B5EF4-FFF2-40B4-BE49-F238E27FC236}">
                <a16:creationId xmlns:a16="http://schemas.microsoft.com/office/drawing/2014/main" id="{22B78487-DAF8-2C4A-8F74-9B7C2E5AC62F}"/>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9</a:t>
            </a:fld>
            <a:endParaRPr lang="fr-FR"/>
          </a:p>
        </p:txBody>
      </p:sp>
    </p:spTree>
    <p:extLst>
      <p:ext uri="{BB962C8B-B14F-4D97-AF65-F5344CB8AC3E}">
        <p14:creationId xmlns:p14="http://schemas.microsoft.com/office/powerpoint/2010/main" val="381643562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ersonnalisé 1">
      <a:majorFont>
        <a:latin typeface="Montserrat 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LE_PPTX_2627_WORKSHOP_COACH.potx" id="{EF694608-99E1-4D09-9662-2A0800E7CE8F}" vid="{D08B27D8-ECAF-4804-8DB5-6603BDEEF1F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A12E68BFFE6349B14E81229B9D296D" ma:contentTypeVersion="14" ma:contentTypeDescription="Crée un document." ma:contentTypeScope="" ma:versionID="ac723a73e39cb04805dba4613e3b4e94">
  <xsd:schema xmlns:xsd="http://www.w3.org/2001/XMLSchema" xmlns:xs="http://www.w3.org/2001/XMLSchema" xmlns:p="http://schemas.microsoft.com/office/2006/metadata/properties" xmlns:ns2="ace0d08d-6bf6-4d2c-bc2b-b93364b89cf2" xmlns:ns3="adc12f02-f222-4b59-a606-718259213883" targetNamespace="http://schemas.microsoft.com/office/2006/metadata/properties" ma:root="true" ma:fieldsID="212360c59d53f9081b96c3292491d18d" ns2:_="" ns3:_="">
    <xsd:import namespace="ace0d08d-6bf6-4d2c-bc2b-b93364b89cf2"/>
    <xsd:import namespace="adc12f02-f222-4b59-a606-71825921388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e0d08d-6bf6-4d2c-bc2b-b93364b89c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73ec7504-3861-4c39-9b6d-002a7ae0acd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dc12f02-f222-4b59-a606-71825921388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2c1cd15-3bab-4356-95bf-6e4c119eead1}" ma:internalName="TaxCatchAll" ma:showField="CatchAllData" ma:web="adc12f02-f222-4b59-a606-718259213883">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ce0d08d-6bf6-4d2c-bc2b-b93364b89cf2">
      <Terms xmlns="http://schemas.microsoft.com/office/infopath/2007/PartnerControls"/>
    </lcf76f155ced4ddcb4097134ff3c332f>
    <TaxCatchAll xmlns="adc12f02-f222-4b59-a606-718259213883" xsi:nil="true"/>
  </documentManagement>
</p:properties>
</file>

<file path=customXml/itemProps1.xml><?xml version="1.0" encoding="utf-8"?>
<ds:datastoreItem xmlns:ds="http://schemas.openxmlformats.org/officeDocument/2006/customXml" ds:itemID="{52858C9C-CF48-4B50-A435-684BFC8CE623}">
  <ds:schemaRefs>
    <ds:schemaRef ds:uri="http://schemas.microsoft.com/sharepoint/v3/contenttype/forms"/>
  </ds:schemaRefs>
</ds:datastoreItem>
</file>

<file path=customXml/itemProps2.xml><?xml version="1.0" encoding="utf-8"?>
<ds:datastoreItem xmlns:ds="http://schemas.openxmlformats.org/officeDocument/2006/customXml" ds:itemID="{16A66009-D836-4237-B6A4-3287B08218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e0d08d-6bf6-4d2c-bc2b-b93364b89cf2"/>
    <ds:schemaRef ds:uri="adc12f02-f222-4b59-a606-7182592138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742B897-F38F-47DA-8339-A63CA5AD6ED8}">
  <ds:schemaRefs>
    <ds:schemaRef ds:uri="http://schemas.microsoft.com/office/2006/metadata/properties"/>
    <ds:schemaRef ds:uri="http://schemas.microsoft.com/office/infopath/2007/PartnerControls"/>
    <ds:schemaRef ds:uri="ace0d08d-6bf6-4d2c-bc2b-b93364b89cf2"/>
    <ds:schemaRef ds:uri="adc12f02-f222-4b59-a606-718259213883"/>
  </ds:schemaRefs>
</ds:datastoreItem>
</file>

<file path=docProps/app.xml><?xml version="1.0" encoding="utf-8"?>
<Properties xmlns="http://schemas.openxmlformats.org/officeDocument/2006/extended-properties" xmlns:vt="http://schemas.openxmlformats.org/officeDocument/2006/docPropsVTypes">
  <Template>MODELE_PPTX_2627_WORKSHOP_COACH</Template>
  <TotalTime>88</TotalTime>
  <Words>1195</Words>
  <Application>Microsoft Office PowerPoint</Application>
  <PresentationFormat>Grand écran</PresentationFormat>
  <Paragraphs>135</Paragraphs>
  <Slides>9</Slides>
  <Notes>8</Notes>
  <HiddenSlides>1</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9</vt:i4>
      </vt:variant>
    </vt:vector>
  </HeadingPairs>
  <TitlesOfParts>
    <vt:vector size="17" baseType="lpstr">
      <vt:lpstr>Aptos</vt:lpstr>
      <vt:lpstr>Arial</vt:lpstr>
      <vt:lpstr>Monsterra</vt:lpstr>
      <vt:lpstr>Montserrat</vt:lpstr>
      <vt:lpstr>Montserrat Bold</vt:lpstr>
      <vt:lpstr>Montserrat italic</vt:lpstr>
      <vt:lpstr>Wingdings</vt:lpstr>
      <vt:lpstr>Thème Office</vt:lpstr>
      <vt:lpstr>WORKSHOP M1 2026</vt:lpstr>
      <vt:lpstr>WORKSHOP M1 2026</vt:lpstr>
      <vt:lpstr>Le défi en un coup d'œil</vt:lpstr>
      <vt:lpstr>Techniquement</vt:lpstr>
      <vt:lpstr>Planning</vt:lpstr>
      <vt:lpstr>Livrable attendus</vt:lpstr>
      <vt:lpstr>Les évaluations</vt:lpstr>
      <vt:lpstr>A VOUS DE JOUER !</vt:lpstr>
      <vt:lpstr>Charte graphique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Julien COMBLEZ</dc:creator>
  <cp:lastModifiedBy>COMBLEZ Julien</cp:lastModifiedBy>
  <cp:revision>3</cp:revision>
  <dcterms:created xsi:type="dcterms:W3CDTF">2026-07-28T13:48:17Z</dcterms:created>
  <dcterms:modified xsi:type="dcterms:W3CDTF">2026-08-12T12:33:55Z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0x01010041A12E68BFFE6349B14E81229B9D296D</vt:lpwstr>
  </property>
  <property fmtid="{D5CDD505-2E9C-101B-9397-08002B2CF9AE}" pid="3" name="MediaServiceImageTags">
    <vt:lpwstr/>
  </property>
</Properties>
</file>